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73895075ad40ee" /><Relationship Type="http://schemas.openxmlformats.org/officeDocument/2006/relationships/extended-properties" Target="/docProps/app.xml" Id="R57600841fa9e4f4b" /><Relationship Type="http://schemas.openxmlformats.org/officeDocument/2006/relationships/officeDocument" Target="/ppt/presentation.xml" Id="R0a49c6cc6d6947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ba89cc2621459e"/>
  </p:sldMasterIdLst>
  <p:notesMasterIdLst>
    <p:notesMasterId xmlns:r="http://schemas.openxmlformats.org/officeDocument/2006/relationships" r:id="Rf710ab1218a94619"/>
  </p:notesMasterIdLst>
  <p:sldIdLst>
    <p:sldId xmlns:r="http://schemas.openxmlformats.org/officeDocument/2006/relationships" id="256" r:id="R6598a48b5e3a4afe"/>
    <p:sldId xmlns:r="http://schemas.openxmlformats.org/officeDocument/2006/relationships" id="257" r:id="R81e3c236aa0b4ad9"/>
    <p:sldId xmlns:r="http://schemas.openxmlformats.org/officeDocument/2006/relationships" id="258" r:id="R61f7800fb0c949be"/>
    <p:sldId xmlns:r="http://schemas.openxmlformats.org/officeDocument/2006/relationships" id="259" r:id="Re7db8be234ad487a"/>
    <p:sldId xmlns:r="http://schemas.openxmlformats.org/officeDocument/2006/relationships" id="260" r:id="Rfa85d883a7d5405f"/>
    <p:sldId xmlns:r="http://schemas.openxmlformats.org/officeDocument/2006/relationships" id="261" r:id="R52b37d8450084500"/>
    <p:sldId xmlns:r="http://schemas.openxmlformats.org/officeDocument/2006/relationships" id="262" r:id="Reb51192311f74c86"/>
    <p:sldId xmlns:r="http://schemas.openxmlformats.org/officeDocument/2006/relationships" id="263" r:id="Rd54ccfef1f2c4959"/>
    <p:sldId xmlns:r="http://schemas.openxmlformats.org/officeDocument/2006/relationships" id="264" r:id="Rf4417057fac74973"/>
    <p:sldId xmlns:r="http://schemas.openxmlformats.org/officeDocument/2006/relationships" id="265" r:id="R4ce38f47dba649e0"/>
    <p:sldId xmlns:r="http://schemas.openxmlformats.org/officeDocument/2006/relationships" id="266" r:id="R87e1635041a24d9c"/>
    <p:sldId xmlns:r="http://schemas.openxmlformats.org/officeDocument/2006/relationships" id="267" r:id="R4ad4b2e457c84f90"/>
    <p:sldId xmlns:r="http://schemas.openxmlformats.org/officeDocument/2006/relationships" id="268" r:id="Rb7650f4b33d145a1"/>
    <p:sldId xmlns:r="http://schemas.openxmlformats.org/officeDocument/2006/relationships" id="269" r:id="R3c7b3f42e1874495"/>
    <p:sldId xmlns:r="http://schemas.openxmlformats.org/officeDocument/2006/relationships" id="270" r:id="Rfa5b77c365844f70"/>
    <p:sldId xmlns:r="http://schemas.openxmlformats.org/officeDocument/2006/relationships" id="271" r:id="R69ed735fdd4542a7"/>
    <p:sldId xmlns:r="http://schemas.openxmlformats.org/officeDocument/2006/relationships" id="272" r:id="Rddf675d704094e8a"/>
    <p:sldId xmlns:r="http://schemas.openxmlformats.org/officeDocument/2006/relationships" id="273" r:id="R2f8659d2d3f74809"/>
    <p:sldId xmlns:r="http://schemas.openxmlformats.org/officeDocument/2006/relationships" id="274" r:id="Re6fbcd7fa9c24723"/>
    <p:sldId xmlns:r="http://schemas.openxmlformats.org/officeDocument/2006/relationships" id="275" r:id="R6e313c122f644b78"/>
    <p:sldId xmlns:r="http://schemas.openxmlformats.org/officeDocument/2006/relationships" id="276" r:id="Ra5fd09860aac4ace"/>
    <p:sldId xmlns:r="http://schemas.openxmlformats.org/officeDocument/2006/relationships" id="277" r:id="R55c0160d25cb4246"/>
    <p:sldId xmlns:r="http://schemas.openxmlformats.org/officeDocument/2006/relationships" id="278" r:id="R5d84a6aad37e4ba4"/>
    <p:sldId xmlns:r="http://schemas.openxmlformats.org/officeDocument/2006/relationships" id="279" r:id="R3ac19e916dcc416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ba89cc2621459e" /><Relationship Type="http://schemas.openxmlformats.org/officeDocument/2006/relationships/theme" Target="/ppt/theme/theme1.xml" Id="R9a0c09bae9fe40d7" /><Relationship Type="http://schemas.openxmlformats.org/officeDocument/2006/relationships/notesMaster" Target="/ppt/notesMasters/notesMaster1.xml" Id="Rf710ab1218a94619" /><Relationship Type="http://schemas.openxmlformats.org/officeDocument/2006/relationships/presProps" Target="/ppt/presProps.xml" Id="R76483b57c7f84514" /><Relationship Type="http://schemas.openxmlformats.org/officeDocument/2006/relationships/viewProps" Target="/ppt/viewProps.xml" Id="R12cf7bc488de4db4" /><Relationship Type="http://schemas.openxmlformats.org/officeDocument/2006/relationships/tableStyles" Target="/ppt/tableStyles.xml" Id="Reba7b127f82b465e" /><Relationship Type="http://schemas.openxmlformats.org/officeDocument/2006/relationships/slide" Target="/ppt/slides/slide1.xml" Id="R6598a48b5e3a4afe" /><Relationship Type="http://schemas.openxmlformats.org/officeDocument/2006/relationships/slide" Target="/ppt/slides/slide2.xml" Id="R81e3c236aa0b4ad9" /><Relationship Type="http://schemas.openxmlformats.org/officeDocument/2006/relationships/slide" Target="/ppt/slides/slide3.xml" Id="R61f7800fb0c949be" /><Relationship Type="http://schemas.openxmlformats.org/officeDocument/2006/relationships/slide" Target="/ppt/slides/slide4.xml" Id="Re7db8be234ad487a" /><Relationship Type="http://schemas.openxmlformats.org/officeDocument/2006/relationships/slide" Target="/ppt/slides/slide5.xml" Id="Rfa85d883a7d5405f" /><Relationship Type="http://schemas.openxmlformats.org/officeDocument/2006/relationships/slide" Target="/ppt/slides/slide6.xml" Id="R52b37d8450084500" /><Relationship Type="http://schemas.openxmlformats.org/officeDocument/2006/relationships/slide" Target="/ppt/slides/slide7.xml" Id="Reb51192311f74c86" /><Relationship Type="http://schemas.openxmlformats.org/officeDocument/2006/relationships/slide" Target="/ppt/slides/slide8.xml" Id="Rd54ccfef1f2c4959" /><Relationship Type="http://schemas.openxmlformats.org/officeDocument/2006/relationships/slide" Target="/ppt/slides/slide9.xml" Id="Rf4417057fac74973" /><Relationship Type="http://schemas.openxmlformats.org/officeDocument/2006/relationships/slide" Target="/ppt/slides/slide10.xml" Id="R4ce38f47dba649e0" /><Relationship Type="http://schemas.openxmlformats.org/officeDocument/2006/relationships/slide" Target="/ppt/slides/slide11.xml" Id="R87e1635041a24d9c" /><Relationship Type="http://schemas.openxmlformats.org/officeDocument/2006/relationships/slide" Target="/ppt/slides/slide12.xml" Id="R4ad4b2e457c84f90" /><Relationship Type="http://schemas.openxmlformats.org/officeDocument/2006/relationships/slide" Target="/ppt/slides/slide13.xml" Id="Rb7650f4b33d145a1" /><Relationship Type="http://schemas.openxmlformats.org/officeDocument/2006/relationships/slide" Target="/ppt/slides/slide14.xml" Id="R3c7b3f42e1874495" /><Relationship Type="http://schemas.openxmlformats.org/officeDocument/2006/relationships/slide" Target="/ppt/slides/slide15.xml" Id="Rfa5b77c365844f70" /><Relationship Type="http://schemas.openxmlformats.org/officeDocument/2006/relationships/slide" Target="/ppt/slides/slide16.xml" Id="R69ed735fdd4542a7" /><Relationship Type="http://schemas.openxmlformats.org/officeDocument/2006/relationships/slide" Target="/ppt/slides/slide17.xml" Id="Rddf675d704094e8a" /><Relationship Type="http://schemas.openxmlformats.org/officeDocument/2006/relationships/slide" Target="/ppt/slides/slide18.xml" Id="R2f8659d2d3f74809" /><Relationship Type="http://schemas.openxmlformats.org/officeDocument/2006/relationships/slide" Target="/ppt/slides/slide19.xml" Id="Re6fbcd7fa9c24723" /><Relationship Type="http://schemas.openxmlformats.org/officeDocument/2006/relationships/slide" Target="/ppt/slides/slide20.xml" Id="R6e313c122f644b78" /><Relationship Type="http://schemas.openxmlformats.org/officeDocument/2006/relationships/slide" Target="/ppt/slides/slide21.xml" Id="Ra5fd09860aac4ace" /><Relationship Type="http://schemas.openxmlformats.org/officeDocument/2006/relationships/slide" Target="/ppt/slides/slide22.xml" Id="R55c0160d25cb4246" /><Relationship Type="http://schemas.openxmlformats.org/officeDocument/2006/relationships/slide" Target="/ppt/slides/slide23.xml" Id="R5d84a6aad37e4ba4" /><Relationship Type="http://schemas.openxmlformats.org/officeDocument/2006/relationships/slide" Target="/ppt/slides/slide24.xml" Id="R3ac19e916dcc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9667c722ae344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d5186037ec4896" /><Relationship Type="http://schemas.openxmlformats.org/officeDocument/2006/relationships/notesMaster" Target="/ppt/notesMasters/notesMaster1.xml" Id="R0363d1e7651e42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fad3ed3f4f4868" /><Relationship Type="http://schemas.openxmlformats.org/officeDocument/2006/relationships/notesMaster" Target="/ppt/notesMasters/notesMaster1.xml" Id="R0d12e797e22b44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6045ff0fce49ce" /><Relationship Type="http://schemas.openxmlformats.org/officeDocument/2006/relationships/notesMaster" Target="/ppt/notesMasters/notesMaster1.xml" Id="R721146a994b640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db7f53fe044d29" /><Relationship Type="http://schemas.openxmlformats.org/officeDocument/2006/relationships/notesMaster" Target="/ppt/notesMasters/notesMaster1.xml" Id="Reb17351251584e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68a25add9499b" /><Relationship Type="http://schemas.openxmlformats.org/officeDocument/2006/relationships/notesMaster" Target="/ppt/notesMasters/notesMaster1.xml" Id="R9723824dd9cd40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572478d1b24315" /><Relationship Type="http://schemas.openxmlformats.org/officeDocument/2006/relationships/notesMaster" Target="/ppt/notesMasters/notesMaster1.xml" Id="R3c1d665c33d24c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b2e51065c14679" /><Relationship Type="http://schemas.openxmlformats.org/officeDocument/2006/relationships/notesMaster" Target="/ppt/notesMasters/notesMaster1.xml" Id="R74df682ef68e40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8468357092435a" /><Relationship Type="http://schemas.openxmlformats.org/officeDocument/2006/relationships/notesMaster" Target="/ppt/notesMasters/notesMaster1.xml" Id="Rb1b7d465293a49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1f2c25d83d4292" /><Relationship Type="http://schemas.openxmlformats.org/officeDocument/2006/relationships/notesMaster" Target="/ppt/notesMasters/notesMaster1.xml" Id="R43df9efe202b485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868b45fbd343a0" /><Relationship Type="http://schemas.openxmlformats.org/officeDocument/2006/relationships/notesMaster" Target="/ppt/notesMasters/notesMaster1.xml" Id="R10e8973ae39d49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89cd704e11455d" /><Relationship Type="http://schemas.openxmlformats.org/officeDocument/2006/relationships/notesMaster" Target="/ppt/notesMasters/notesMaster1.xml" Id="Rea2cdd7234424bd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0679492d1044bc" /><Relationship Type="http://schemas.openxmlformats.org/officeDocument/2006/relationships/notesMaster" Target="/ppt/notesMasters/notesMaster1.xml" Id="R319bb03cd7c04c5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0b996202d44401" /><Relationship Type="http://schemas.openxmlformats.org/officeDocument/2006/relationships/notesMaster" Target="/ppt/notesMasters/notesMaster1.xml" Id="R7a479884e9674f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449737337845d9" /><Relationship Type="http://schemas.openxmlformats.org/officeDocument/2006/relationships/notesMaster" Target="/ppt/notesMasters/notesMaster1.xml" Id="R1afcce35c598457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0fb8bf6138467f" /><Relationship Type="http://schemas.openxmlformats.org/officeDocument/2006/relationships/notesMaster" Target="/ppt/notesMasters/notesMaster1.xml" Id="R272962d90ad5416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4e339c4a1f14ff1" /><Relationship Type="http://schemas.openxmlformats.org/officeDocument/2006/relationships/notesMaster" Target="/ppt/notesMasters/notesMaster1.xml" Id="R4589ceaa3d9645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7a097b86fd549f9" /><Relationship Type="http://schemas.openxmlformats.org/officeDocument/2006/relationships/notesMaster" Target="/ppt/notesMasters/notesMaster1.xml" Id="R7309e9f7dcad4a9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ce2627e40a94f95" /><Relationship Type="http://schemas.openxmlformats.org/officeDocument/2006/relationships/notesMaster" Target="/ppt/notesMasters/notesMaster1.xml" Id="R2dc6ca8e80994fd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28547d0249c476f" /><Relationship Type="http://schemas.openxmlformats.org/officeDocument/2006/relationships/notesMaster" Target="/ppt/notesMasters/notesMaster1.xml" Id="R3aa16f28546e4e6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12eec975ee64e20" /><Relationship Type="http://schemas.openxmlformats.org/officeDocument/2006/relationships/notesMaster" Target="/ppt/notesMasters/notesMaster1.xml" Id="Raa00e90c866b420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25d892dc6d7460b" /><Relationship Type="http://schemas.openxmlformats.org/officeDocument/2006/relationships/notesMaster" Target="/ppt/notesMasters/notesMaster1.xml" Id="R802e88c3d60e474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c577b082c284713" /><Relationship Type="http://schemas.openxmlformats.org/officeDocument/2006/relationships/notesMaster" Target="/ppt/notesMasters/notesMaster1.xml" Id="R0861c5e87ad64fd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69d749ebb224c93" /><Relationship Type="http://schemas.openxmlformats.org/officeDocument/2006/relationships/notesMaster" Target="/ppt/notesMasters/notesMaster1.xml" Id="Ra4a50679cca6494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cdb867dae6442df" /><Relationship Type="http://schemas.openxmlformats.org/officeDocument/2006/relationships/notesMaster" Target="/ppt/notesMasters/notesMaster1.xml" Id="R357e3971e9df46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 and framing slide for the investor deck.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Status slide grounded in the batch registry and future transformation canon.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Overview slide for the future queue from Batch 39 through Batch 59.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39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40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41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42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43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44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45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46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47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48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49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50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51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52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53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54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55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56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57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58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Batch 59 investor-summary slide.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docs/codex/BATCH_REGISTRY.md</a:t>
            </a:r>
          </a:p>
          <a:p xmlns:a="http://schemas.openxmlformats.org/drawingml/2006/main">
            <a:r>
              <a:t>- docs/canon/Ambitions_Full_Frontend_Transformation_Program.md</a:t>
            </a:r>
          </a:p>
          <a:p xmlns:a="http://schemas.openxmlformats.org/drawingml/2006/main">
            <a:r>
              <a:t>- docs/canon/design/Ambitions_Frontend_Transformation_Execution_Classification.md</a:t>
            </a:r>
          </a:p>
          <a:p xmlns:a="http://schemas.openxmlformats.org/drawingml/2006/main">
            <a:r>
              <a:t>- docs/codex/batches/batch-39.md through batch-59.md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4b946a01e34a5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C386288-3381-4FD8-A1E2-E32A625F780B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8219D0-7E20-4006-B1E2-C734276A6AB8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BDD32B3-DEF6-4600-B777-BDDCCFE08CB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F31637B-0BE8-4110-BEEC-5C7B5277962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40540e38d844b21" /><Relationship Type="http://schemas.openxmlformats.org/officeDocument/2006/relationships/slideLayout" Target="/ppt/slideLayouts/slideLayout2.xml" Id="Rc078980c1a7d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EF31CA-C8A5-4EC3-9A51-BDE618E7CB25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78980c1a7d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c55dda07d64fcc" /><Relationship Type="http://schemas.openxmlformats.org/officeDocument/2006/relationships/notesSlide" Target="/ppt/notesSlides/notesSlide1.xml" Id="R18e4de22f54f49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c39f9bfc384071" /><Relationship Type="http://schemas.openxmlformats.org/officeDocument/2006/relationships/notesSlide" Target="/ppt/notesSlides/notesSlide2.xml" Id="R094d1397e33c4f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270e633e9f403d" /><Relationship Type="http://schemas.openxmlformats.org/officeDocument/2006/relationships/notesSlide" Target="/ppt/notesSlides/notesSlide3.xml" Id="Rdf9db9d0002d44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b314b8ca23e4e59" /><Relationship Type="http://schemas.openxmlformats.org/officeDocument/2006/relationships/notesSlide" Target="/ppt/notesSlides/notesSlide4.xml" Id="Rf3c7449121bc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ba3a0b198854f1a" /><Relationship Type="http://schemas.openxmlformats.org/officeDocument/2006/relationships/notesSlide" Target="/ppt/notesSlides/notesSlide5.xml" Id="Rb66583bfb09843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079d5777d471d" /><Relationship Type="http://schemas.openxmlformats.org/officeDocument/2006/relationships/notesSlide" Target="/ppt/notesSlides/notesSlide6.xml" Id="Raba4bfa55fdb4a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61ca8d122f40ec" /><Relationship Type="http://schemas.openxmlformats.org/officeDocument/2006/relationships/notesSlide" Target="/ppt/notesSlides/notesSlide7.xml" Id="Re0cb0dc4c62d43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eb3087f114b6c" /><Relationship Type="http://schemas.openxmlformats.org/officeDocument/2006/relationships/notesSlide" Target="/ppt/notesSlides/notesSlide8.xml" Id="R873b15fb321f49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2d4f95d5064404" /><Relationship Type="http://schemas.openxmlformats.org/officeDocument/2006/relationships/notesSlide" Target="/ppt/notesSlides/notesSlide9.xml" Id="R21fb387be6fe401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595f1d00c742ab" /><Relationship Type="http://schemas.openxmlformats.org/officeDocument/2006/relationships/notesSlide" Target="/ppt/notesSlides/notesSlide10.xml" Id="Ra70d2b61819e4b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da751342904a0f" /><Relationship Type="http://schemas.openxmlformats.org/officeDocument/2006/relationships/notesSlide" Target="/ppt/notesSlides/notesSlide11.xml" Id="R40ce713aa90f4a1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66e4633084879" /><Relationship Type="http://schemas.openxmlformats.org/officeDocument/2006/relationships/notesSlide" Target="/ppt/notesSlides/notesSlide12.xml" Id="R30b2510a03704c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5213a6fb344ee4" /><Relationship Type="http://schemas.openxmlformats.org/officeDocument/2006/relationships/notesSlide" Target="/ppt/notesSlides/notesSlide13.xml" Id="R5a2c18a8ea734e0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cb750eb6374702" /><Relationship Type="http://schemas.openxmlformats.org/officeDocument/2006/relationships/notesSlide" Target="/ppt/notesSlides/notesSlide14.xml" Id="Rb4e27ed274de4e7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d9da25b39441a4" /><Relationship Type="http://schemas.openxmlformats.org/officeDocument/2006/relationships/notesSlide" Target="/ppt/notesSlides/notesSlide15.xml" Id="R3364fddda7724e1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528d2eac9b48f2" /><Relationship Type="http://schemas.openxmlformats.org/officeDocument/2006/relationships/notesSlide" Target="/ppt/notesSlides/notesSlide16.xml" Id="R2d43c4b1e3084d4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686a67c6a4f5e" /><Relationship Type="http://schemas.openxmlformats.org/officeDocument/2006/relationships/notesSlide" Target="/ppt/notesSlides/notesSlide17.xml" Id="Rc8e4e75e29a8418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aef064b9f3b4fb3" /><Relationship Type="http://schemas.openxmlformats.org/officeDocument/2006/relationships/notesSlide" Target="/ppt/notesSlides/notesSlide18.xml" Id="R322b0297761a458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aae395d3f44ebd" /><Relationship Type="http://schemas.openxmlformats.org/officeDocument/2006/relationships/notesSlide" Target="/ppt/notesSlides/notesSlide19.xml" Id="Rfa5754754a8a4cf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6cb7d9cdb414f" /><Relationship Type="http://schemas.openxmlformats.org/officeDocument/2006/relationships/notesSlide" Target="/ppt/notesSlides/notesSlide20.xml" Id="R418a2ea5546242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f2e38d86f34f2d" /><Relationship Type="http://schemas.openxmlformats.org/officeDocument/2006/relationships/notesSlide" Target="/ppt/notesSlides/notesSlide21.xml" Id="Reaf5e9de2bbb427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1de1f929254677" /><Relationship Type="http://schemas.openxmlformats.org/officeDocument/2006/relationships/notesSlide" Target="/ppt/notesSlides/notesSlide22.xml" Id="Rb8d26a8e6a6548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fbe6814e80453a" /><Relationship Type="http://schemas.openxmlformats.org/officeDocument/2006/relationships/notesSlide" Target="/ppt/notesSlides/notesSlide23.xml" Id="Rd9729b8738eb43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18fa971d154912" /><Relationship Type="http://schemas.openxmlformats.org/officeDocument/2006/relationships/notesSlide" Target="/ppt/notesSlides/notesSlide24.xml" Id="R80638ca423fe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0A0DA-6DD6-4778-AFE4-1C9DDBD7C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E7E621-A7AE-4DE0-8EDD-5395C415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D1B4A-3145-4BB3-9193-F8D2AE58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8D34A-0F88-4BA8-AF72-872D2709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358D0D-04BF-4DAE-B66B-1D3E76BB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851F6C-EA0A-44B5-8B61-A934CC603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933450"/>
            <a:ext cx="2495550" cy="2495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87EFC-2DD0-41A8-BE74-EDBD855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2381250"/>
            <a:ext cx="1123950" cy="1123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2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8FA10E-7592-4C4F-BE44-4E9C6AA3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1447800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3921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7EBE9-83C9-46C3-BB54-BCDB17D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028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Investor preview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7DC884-4C4A-458D-8C24-843A83C76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3906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51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21518"/>
                </a:solidFill>
              </a:defRPr>
            </a:pPr>
            <a:r>
              <a:rPr sz="3150" b="1">
                <a:solidFill>
                  <a:srgbClr val="121518"/>
                </a:solidFill>
              </a:rPr>
              <a:t>Ambitions front-end transformation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439C5-AD74-484A-96D7-B367EBAE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4790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F353B"/>
                </a:solidFill>
              </a:defRPr>
            </a:pPr>
            <a:r>
              <a:rPr sz="1575" b="0">
                <a:solidFill>
                  <a:srgbClr val="2F353B"/>
                </a:solidFill>
              </a:rPr>
              <a:t>A presentation-ready overview of the future roadmap from Batch 39 through Batch 59, built from the current canonical planning truth.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CDE91-64C3-4D60-B3B7-7B7D7D10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42900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EFC57-1B8D-457D-A86F-6C89A9D2C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400" y="3619500"/>
            <a:ext cx="666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518"/>
                </a:solidFill>
              </a:defRPr>
            </a:pPr>
            <a:r>
              <a:rPr sz="2400" b="1">
                <a:solidFill>
                  <a:srgbClr val="121518"/>
                </a:solidFill>
              </a:rPr>
              <a:t>21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0E4447-6AD7-4439-9F7A-727E0A03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6400" y="3676650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05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1518"/>
                </a:solidFill>
              </a:defRPr>
            </a:pPr>
            <a:r>
              <a:rPr sz="1050" b="0">
                <a:solidFill>
                  <a:srgbClr val="121518"/>
                </a:solidFill>
              </a:rPr>
              <a:t>future transformation batches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A57859-3D2A-4396-8B24-C2FAB717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05150" y="342900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ADD972-AA24-4993-870E-28D49D21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3619500"/>
            <a:ext cx="514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28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1518"/>
                </a:solidFill>
              </a:defRPr>
            </a:pPr>
            <a:r>
              <a:rPr sz="2400" b="1">
                <a:solidFill>
                  <a:srgbClr val="121518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D539C-270F-491F-892D-09072308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367665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947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21518"/>
                </a:solidFill>
              </a:defRPr>
            </a:pPr>
            <a:r>
              <a:rPr sz="1050" b="0">
                <a:solidFill>
                  <a:srgbClr val="121518"/>
                </a:solidFill>
              </a:rPr>
              <a:t>major product layers redesigned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A3BB2-8BA2-4A9A-AF51-1944C397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4000500"/>
            <a:ext cx="3524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675084-FFE6-4037-8377-F737B44D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2672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8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21518"/>
                </a:solidFill>
              </a:defRPr>
            </a:pPr>
            <a:r>
              <a:rPr sz="1800" b="1">
                <a:solidFill>
                  <a:srgbClr val="121518"/>
                </a:solidFill>
              </a:rPr>
              <a:t>Calm. Obvious. Premium. Consumer-native.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6BCEFE-2B20-4E81-9898-94CC7A57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4705350"/>
            <a:ext cx="2819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F353B"/>
                </a:solidFill>
              </a:defRPr>
            </a:pPr>
            <a:r>
              <a:rPr sz="1125" b="0">
                <a:solidFill>
                  <a:srgbClr val="2F353B"/>
                </a:solidFill>
              </a:rPr>
              <a:t>The end state is a high-trust external brain that feels authored across every screen and every device surface.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CF30CB-4D6F-4980-8B61-9D1AD1E6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Covers only queued future work: Batches 39–59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F80D29-A5F0-42CA-992B-FB3793AF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9303132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BBA70-8818-4482-9848-7F99B3A1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53817D-70A3-4F3E-A6D1-5CD177DB6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41F31A-CE1A-4626-8C72-6AAA12F9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23A9F-EBC8-4436-A55F-AFB9C90C5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9FD3D1-DF3C-4A81-968C-9D97CFDE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9327B-7DE1-4563-A141-552EBB42A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895350"/>
            <a:ext cx="495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518"/>
                </a:solidFill>
              </a:defRPr>
            </a:pPr>
            <a:r>
              <a:rPr sz="2550" b="1">
                <a:solidFill>
                  <a:srgbClr val="121518"/>
                </a:solidFill>
              </a:rPr>
              <a:t>Where the roadmap stands today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66492B-F6AA-4F33-ABE9-B1E3CF09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66850"/>
            <a:ext cx="52197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518"/>
                </a:solidFill>
              </a:defRPr>
            </a:pPr>
            <a:r>
              <a:rPr sz="1350" b="0">
                <a:solidFill>
                  <a:srgbClr val="121518"/>
                </a:solidFill>
              </a:rPr>
              <a:t>This presentation begins after the current hardening wave. The live queue remains unchanged: Batch 37 is active, Batch 38 is queued, and the front-end transformation begins at Batch 39.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B07D2-A9F6-4CBB-8A59-B99671CD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8575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3CF9A2-BEB5-4A94-A335-E500AB9F0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0480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518"/>
                </a:solidFill>
              </a:defRPr>
            </a:pPr>
            <a:r>
              <a:rPr sz="2250" b="1">
                <a:solidFill>
                  <a:srgbClr val="121518"/>
                </a:solidFill>
              </a:rPr>
              <a:t>37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6D9DC9-12BF-4989-9CAE-3DD2095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4099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active now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4CA611-8BD6-4D5C-A21A-BD491582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36576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353B"/>
                </a:solidFill>
              </a:defRPr>
            </a:pPr>
            <a:r>
              <a:rPr sz="975" b="0">
                <a:solidFill>
                  <a:srgbClr val="2F353B"/>
                </a:solidFill>
              </a:rPr>
              <a:t>Current hardening work remains in progress.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D7AD4-C5FF-41A2-B177-97E71886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28575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3CB7A7-5653-444B-9C89-4A9A6554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0480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518"/>
                </a:solidFill>
              </a:defRPr>
            </a:pPr>
            <a:r>
              <a:rPr sz="2250" b="1">
                <a:solidFill>
                  <a:srgbClr val="121518"/>
                </a:solidFill>
              </a:rPr>
              <a:t>38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147D8-3D76-45A2-8839-C927CF29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4099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queued 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D3F912-A01D-477C-BEAE-A285157E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6576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353B"/>
                </a:solidFill>
              </a:defRPr>
            </a:pPr>
            <a:r>
              <a:rPr sz="975" b="0">
                <a:solidFill>
                  <a:srgbClr val="2F353B"/>
                </a:solidFill>
              </a:rPr>
              <a:t>Hardening follow-through lands before the transformation begins.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FDA0C8-AC52-49D8-8A98-87DD4435F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267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DBE8A6-1BBA-4AF9-9637-203B8E8B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4577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518"/>
                </a:solidFill>
              </a:defRPr>
            </a:pPr>
            <a:r>
              <a:rPr sz="2250" b="1">
                <a:solidFill>
                  <a:srgbClr val="121518"/>
                </a:solidFill>
              </a:rPr>
              <a:t>39-59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864C4A-7660-4620-920E-38837AD6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4819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investor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BEC151-4269-465E-B21E-EC47DA61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5350" y="50673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353B"/>
                </a:solidFill>
              </a:defRPr>
            </a:pPr>
            <a:r>
              <a:rPr sz="975" b="0">
                <a:solidFill>
                  <a:srgbClr val="2F353B"/>
                </a:solidFill>
              </a:rPr>
              <a:t>Every future transformation batch is queued and sequenced.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750492-AB77-42C1-B3D8-10288EC7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4267200"/>
            <a:ext cx="2324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A741BA-69A2-4BFE-BF2A-5687F647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4457700"/>
            <a:ext cx="95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284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21518"/>
                </a:solidFill>
              </a:defRPr>
            </a:pPr>
            <a:r>
              <a:rPr sz="2250" b="1">
                <a:solidFill>
                  <a:srgbClr val="121518"/>
                </a:solidFill>
              </a:rPr>
              <a:t>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71C22-0AEB-4E5E-BCF0-316A6319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48196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optional systems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42999E-5CA3-49FF-B7DD-D183731F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50673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221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353B"/>
                </a:solidFill>
              </a:defRPr>
            </a:pPr>
            <a:r>
              <a:rPr sz="975" b="0">
                <a:solidFill>
                  <a:srgbClr val="2F353B"/>
                </a:solidFill>
              </a:rPr>
              <a:t>Everything in the agreed transformation roadmap is intended to ship.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7C9C6-064A-49D9-AA76-F9FEB962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1219200"/>
            <a:ext cx="4362450" cy="4457700"/>
          </a:xfrm>
          <a:prstGeom xmlns:a="http://schemas.openxmlformats.org/drawingml/2006/main" prst="roundRect">
            <a:avLst>
              <a:gd name="adj" fmla="val 17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4FA415-8644-40BD-9D10-D4FA2B64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4668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Transformation arcs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109A2-266D-4F31-B105-22B6F5B3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18859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91F2E-5A71-472E-A4E9-9379B065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9621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39-42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20140F-AA8D-43BB-A6C3-3B0CCFED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19431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Foundation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C98D93-0568-4CEB-BB1E-F3A195B8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4384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6E5213-4B3E-44C4-BAEC-99CB49D8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251460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43-50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E4D5C-2B8E-4C32-A876-6A294B3F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24955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Flagship surfaces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6E283A7-7C42-47DD-8E0C-D3468770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29908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C9C19C6-EE0F-458E-A112-51BDC1FE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30670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51-53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5EBCA4-EFF0-4E3F-9983-1F315612C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0480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Trust and reflection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5FF32B-711F-43B4-8E96-AE92657B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5433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671E9F-A6BA-44E1-9B91-BE63369D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361950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54-56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19BE5A-316F-48C3-80B6-12853921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6004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Ambient extension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8F23C3-84C4-4DA5-98C8-5EC2601A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09575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2E3A45">
              <a:alpha val="9412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B542A1-C09C-4930-A22E-89608D23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417195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57-58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45F2D8-E719-49B5-8073-F922F2DE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152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Multi-device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85C64AD-F348-438A-9D3A-E876985C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4648200"/>
            <a:ext cx="8382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1E7A57">
              <a:alpha val="9412"/>
            </a:srgbClr>
          </a:solidFill>
          <a:ln xmlns:a="http://schemas.openxmlformats.org/drawingml/2006/main" w="10478">
            <a:solidFill>
              <a:srgbClr val="1E7A5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371714-82B8-425B-8DC1-41B21FD8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4724400"/>
            <a:ext cx="5334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7A57"/>
                </a:solidFill>
              </a:defRPr>
            </a:pPr>
            <a:r>
              <a:rPr sz="825" b="1">
                <a:solidFill>
                  <a:srgbClr val="1E7A57"/>
                </a:solidFill>
              </a:rPr>
              <a:t>59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019289-8F3A-4F72-B0BE-59FAB872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470535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0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21518"/>
                </a:solidFill>
              </a:defRPr>
            </a:pPr>
            <a:r>
              <a:rPr sz="1350" b="1">
                <a:solidFill>
                  <a:srgbClr val="121518"/>
                </a:solidFill>
              </a:rPr>
              <a:t>Flagship finish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D8EC12D-F454-4BCF-86A5-D4762BAB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5467350"/>
            <a:ext cx="3390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509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F353B"/>
                </a:solidFill>
              </a:defRPr>
            </a:pPr>
            <a:r>
              <a:rPr sz="1200" b="0">
                <a:solidFill>
                  <a:srgbClr val="2F353B"/>
                </a:solidFill>
              </a:rPr>
              <a:t>The message for investors is simple: the roadmap is now fully defined, fully batched, and fully mandatory. The remaining work is not discovery drift. It is execution.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DBDEEA-470C-43B6-90A5-9D112E99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Current operational truth preserved: Batch 37 active, Batch 38 queued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9E94465-BE00-485A-9FD2-775D03BD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2515591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24760-0739-424E-AD1E-F21A1EB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36513-3F49-45CF-87C2-9135D69A5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D5D47-AD7B-46F0-896B-C565525C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46AFC0-3AB2-408A-8482-779EB3959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06D4B-95A6-4313-86DE-25EA49FB6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7B5464-03E6-4DE9-8245-4D4532950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895350"/>
            <a:ext cx="533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21518"/>
                </a:solidFill>
              </a:defRPr>
            </a:pPr>
            <a:r>
              <a:rPr sz="2550" b="1">
                <a:solidFill>
                  <a:srgbClr val="121518"/>
                </a:solidFill>
              </a:rPr>
              <a:t>The roadmap from Batch 39 to Batch 59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0D172F-ECFA-44C4-85D6-27F83386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466850"/>
            <a:ext cx="619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9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518"/>
                </a:solidFill>
              </a:defRPr>
            </a:pPr>
            <a:r>
              <a:rPr sz="1350" b="0">
                <a:solidFill>
                  <a:srgbClr val="121518"/>
                </a:solidFill>
              </a:rPr>
              <a:t>The transformation is sequenced to protect clarity, avoid shell instability, and move from platform foundations into flagship surfaces, ambient extensions, and multi-device expansion.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A76EC-6049-4DDD-B577-CD969F004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3431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B67D">
              <a:alpha val="8627"/>
            </a:srgbClr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8A2694-AE1A-4AB3-8F23-18C788B4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4384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39-42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8AFCD-02F2-4F98-B670-79EAEDFF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2590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518"/>
                </a:solidFill>
              </a:defRPr>
            </a:pPr>
            <a:r>
              <a:rPr sz="1575" b="1">
                <a:solidFill>
                  <a:srgbClr val="121518"/>
                </a:solidFill>
              </a:rPr>
              <a:t>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6E01F-0627-434C-B5AA-152C394C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2609850"/>
            <a:ext cx="784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917749-73CF-4179-8AA5-FC81A97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246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E0887C-1605-4002-BC26-A938FCF9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24955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Canon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3E81E-B296-4B36-9177-B021AE63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246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EE2BBF-1A8C-47DA-A20A-95B359498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24955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Shell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55C88-A7B4-4BE6-A6CC-BD7E7535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246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85A4F-C72A-4173-A0BB-98803F0D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4955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Design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D06F3-F8FA-405F-8FFC-E20048B9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24669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3C7C38-42F6-4945-907B-C58F95A1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24955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Command layer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2B1B40-6063-49F6-8CA4-4C894219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1242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7A23C">
              <a:alpha val="8627"/>
            </a:srgbClr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C1E760-6C36-4050-BFCD-49997CEB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43-50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037D69-70D8-4F0E-8919-DF5251D68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3718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518"/>
                </a:solidFill>
              </a:defRPr>
            </a:pPr>
            <a:r>
              <a:rPr sz="1575" b="1">
                <a:solidFill>
                  <a:srgbClr val="121518"/>
                </a:solidFill>
              </a:rPr>
              <a:t>Flagship surfaces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154E52-5746-4A93-A9D2-27D0549F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3390900"/>
            <a:ext cx="784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E7B91C-1E36-4B49-9AE6-C59903A0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5D416-EF36-4CC5-9157-97B48D6F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3276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Today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F9A275-3E6E-476B-803A-4C595E8A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E1BF5F-E5DE-4689-8E41-24F53E0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3276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Goals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1C3A95-7BC7-4CDB-AC2E-81A043BB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61B005-F748-46F7-A043-F3D3FF2F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3276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Goal 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3096D3-4038-4BBA-B5BC-ACA8EAA4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0" y="32480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1D3D87-0AF0-4ACB-BCE0-12E197D6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32766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Plan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619559-0724-44A1-AE5C-762813F4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9052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2765E">
              <a:alpha val="8627"/>
            </a:srgbClr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7746BE-3FDD-427B-BD0B-7B49BAC2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0005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51-53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CDA4EC-E561-4E6C-B5D5-CB3B2B5C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152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518"/>
                </a:solidFill>
              </a:defRPr>
            </a:pPr>
            <a:r>
              <a:rPr sz="1575" b="1">
                <a:solidFill>
                  <a:srgbClr val="121518"/>
                </a:solidFill>
              </a:rPr>
              <a:t>Trust and reflection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4F09A1-2260-4CE7-AE53-0DDC7706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171950"/>
            <a:ext cx="784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36EDD7-2721-46AF-ACBD-74DAD884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4029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809639-09D1-42F7-8B71-F8C56601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40576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Insights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F11656-9C1B-48EC-BF40-48EC8E5B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4029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00984FD-AE7A-4AC1-BFAC-DF3DBCA8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0576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Profile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E74AAD-C540-423A-8579-F631968F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0290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BF048C5-0435-4178-A7D4-6B407134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40576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Onboarding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9590F8-59A4-45D5-905D-7768DE0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68630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88A7BC">
              <a:alpha val="8627"/>
            </a:srgbClr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214B94-2220-46D1-AC8C-96424D2F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78155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54-56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09A86E6-35A2-45BD-A370-FD8A0B4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933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582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518"/>
                </a:solidFill>
              </a:defRPr>
            </a:pPr>
            <a:r>
              <a:rPr sz="1575" b="1">
                <a:solidFill>
                  <a:srgbClr val="121518"/>
                </a:solidFill>
              </a:rPr>
              <a:t>Ambient extension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430C36-3073-4E3B-A067-63841E06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4953000"/>
            <a:ext cx="784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3E875F1-8D81-4DA6-9C41-BCD0EF22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C72B9D-37AA-4990-9EC6-085C3259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48387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Widgets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29C3E4-14AD-442A-9890-74C0DC65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85017E-04B5-4D60-829B-61E03CBC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48387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Shortcuts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1F39F8-DA77-46E1-9FCF-5F8B9091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48101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1E9662-6BFA-4C27-B737-043C9C9D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483870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Recall coherence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28A2E9-5597-4557-98FA-3C6533FA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467350"/>
            <a:ext cx="1809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E3A45">
              <a:alpha val="8627"/>
            </a:srgbClr>
          </a:solidFill>
          <a:ln xmlns:a="http://schemas.openxmlformats.org/drawingml/2006/main" w="11430">
            <a:solidFill>
              <a:srgbClr val="2E3A4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402109-0741-4CEB-B3CF-0B59BC02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562600"/>
            <a:ext cx="5905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57-59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41273C-25AA-407B-9082-A24D3940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7150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574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1518"/>
                </a:solidFill>
              </a:defRPr>
            </a:pPr>
            <a:r>
              <a:rPr sz="1575" b="1">
                <a:solidFill>
                  <a:srgbClr val="121518"/>
                </a:solidFill>
              </a:rPr>
              <a:t>Multi-device + finish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EBCF69F-49A6-4F20-9440-18BE59B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43200" y="5734050"/>
            <a:ext cx="7848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41DF459-BB5A-4D54-9C15-9B38B04B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67050" y="5591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B119ED1-40C3-4327-87E0-2774EE75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5619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iPad/Mac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28B70D-E04B-4FEF-AC5D-42D6EEED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3950" y="5591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B559821-ADFB-4068-B9E1-FF256D1B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0" y="5619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Watch/TV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FDD69F-FFFD-4D84-86AC-AEA7B142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559117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3A58E51-F1E5-49FC-9784-3C9D7D57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5619750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1518"/>
                </a:solidFill>
              </a:defRPr>
            </a:pPr>
            <a:r>
              <a:rPr sz="975" b="1">
                <a:solidFill>
                  <a:srgbClr val="121518"/>
                </a:solidFill>
              </a:rPr>
              <a:t>Polish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311530-3C50-4ED6-A814-02AD28E3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5372100"/>
            <a:ext cx="29527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68E5E4-E3F4-44BB-AA0B-C44D0575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55626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7A57"/>
                </a:solidFill>
              </a:defRPr>
            </a:pPr>
            <a:r>
              <a:rPr sz="825" b="1">
                <a:solidFill>
                  <a:srgbClr val="1E7A57"/>
                </a:solidFill>
              </a:rPr>
              <a:t>Execution logic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CC02EC1-8753-40B3-81BB-0E8B613D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5772150"/>
            <a:ext cx="2457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71665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F353B"/>
                </a:solidFill>
              </a:defRPr>
            </a:pPr>
            <a:r>
              <a:rPr sz="975" b="0">
                <a:solidFill>
                  <a:srgbClr val="2F353B"/>
                </a:solidFill>
              </a:rPr>
              <a:t>Build the shell first. Prove the core surfaces. Extend trust and ambient value. Expand outward only after the iPhone truth is stable.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025C5F5-9549-4B40-A476-525E6F502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Ordered exactly as the queued future transformation program will be completed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A589F9F-95D6-4054-9376-24BA3EB3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1283459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B55DF-A735-45EF-92EB-88057FE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7637A6-32B2-4BD0-A989-26D2DAE7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4631D-80CC-4115-B1A7-95DC7A66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1B192-A930-410E-8C5A-0B385BD3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70CD88-0AF4-4F1B-BE5A-1DF57C8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5189B-5300-4BD6-853D-1CEEA652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E8919-505E-41AA-882C-34293153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BATCH 39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5E066-4BCC-48BB-8BE1-41EDDF83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0B2D06-A679-4E57-A05D-1AC85A5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C89A7-9518-452A-8C1B-1E4EC1B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Program canon and shell rewrite foundation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3D17DA-3075-48F6-92EC-0DED00B3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This batch locks the transformation into executable truth. It turns the redesign from an idea into a governed program with one canon, one design language, and one roadmap for everything that follows.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CFFBD-8BB2-4133-AE5B-3CD1D777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A6C3D-AA6F-4BD9-92D5-402FF0F1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C69DD9-387C-4730-A6E2-D380C6B1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053546-AC55-43D8-A69F-B3392243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Defines the official transformation playbook, named interaction systems, and design principles.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53CC6-7E3A-4FBF-9C09-C4756D45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2D43B7-7B09-43B2-8218-2AF0E45E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F95484-31D7-4C4E-8173-7B53FF29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6FB9DC-A874-44C0-BCF7-36D58CA3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Sets the rules for shell change, surface ownership, external surfaces, and cross-device continuity.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6D3DD5-420A-4596-A27B-33F7E261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8C3604-BE76-4E4E-A76A-10DEFF2A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EA72A2-B85B-4530-B403-202795439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B6B1DD-9E62-4B0A-AAB9-4E7AB331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Removes interpretation drift so every later batch builds toward the same premium product outcome.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5A1535-CC11-4931-83C8-29B35CDF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E35DDC-9815-48E5-8699-0061E4F8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AE6A39-6AA6-4AD7-830E-AC5E979C9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00000">
            <a:off x="7239000" y="1524000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8B7BF3-242F-4AB2-867C-0014DD32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40000">
            <a:off x="7620000" y="1866900"/>
            <a:ext cx="2514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2FB47E-A813-44F1-AB65-62D3B5349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4800" y="2247900"/>
            <a:ext cx="23812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2EB67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479EA-4508-4260-A77F-3C173421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4193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B67D"/>
                </a:solidFill>
              </a:defRPr>
            </a:pPr>
            <a:r>
              <a:rPr sz="900" b="1">
                <a:solidFill>
                  <a:srgbClr val="2EB67D"/>
                </a:solidFill>
              </a:rPr>
              <a:t>Shell truth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E8368D-8BA4-4C9B-BBD8-08327531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7051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36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1518"/>
                </a:solidFill>
              </a:defRPr>
            </a:pPr>
            <a:r>
              <a:rPr sz="1650" b="1">
                <a:solidFill>
                  <a:srgbClr val="121518"/>
                </a:solidFill>
              </a:rPr>
              <a:t>Design canon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2CEC24-C363-42EA-B5F3-335C6834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086100"/>
            <a:ext cx="1866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A4C0C-BEAD-476A-9D17-2A31879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257550"/>
            <a:ext cx="1581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4A06A7-1872-4383-980A-02737353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42900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3AB14-FEB5-4FA4-B0F0-7DF2B714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638550"/>
            <a:ext cx="361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369C7F2-DF33-4AD4-B857-9D1445D9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3638550"/>
            <a:ext cx="361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C43069-57E1-4173-B3EC-6CC6BACD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0" y="3638550"/>
            <a:ext cx="361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D7B296-EADA-4758-8E24-B9B4748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05950" y="3638550"/>
            <a:ext cx="361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7EC6A35-4FA8-4F0C-9343-5A5CE694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39 of 59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A2D456-DD6E-48EA-987F-16958717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3170478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3E7DE-5C5C-442F-9966-86800B6F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ADFCB-2104-44B4-961A-75D3B855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311217-8FDA-4106-A4E0-4415F96D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64FFD-9092-4C18-BC34-03D312E6C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421C4-1CE5-4A37-80CB-16666828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B98EF-F6EF-4427-A994-60A3B0B5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2DE66-E5D8-41CE-8671-9E86B512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BATCH 40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68CC42-2787-463C-86CB-E40DCC23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A90BD6-4F4E-4BEE-9D3D-CC24AD32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C49829-8E45-44D1-9530-5FDD81C4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Shell reconsideration and navigation architecture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1DE72-67BF-4B6A-A94C-BECE8DE4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This is the structural rewrite of the product shell. Ambitions gets a clearer navigation model, more coherent route ownership, and a foundation built to support the entire front-end transformation.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E1B379-1A86-4B76-9AA6-764F24D90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61B23-5F29-4D85-95AE-3FCBF2D0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7B695-FFA2-42C1-B9FC-DE12AE0F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E589B-E20B-41F2-8FE2-C082A4B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Rebuilds top-level navigation and deep-link behavior into one coherent 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9BE02C-B654-4875-93A2-3D9DFC78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FD612C-D062-4551-9526-31ACC3F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42E063-51C2-49C3-97F7-7E3CB326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3BB20B-3B92-43C9-93C5-5D66E15A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the adaptive header rail and shell-aware transition grammar.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7B6A90-BA9D-42BA-AB9F-C005667C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5A86B7-A86C-4F0B-B1C3-E5153CC99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391014-7E59-408E-8DC5-00853305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188B89-AE31-4FFD-811A-7DDA2A78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every later surface redesign easier to understand, faster to enter, and harder to fragment.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A80DFD-FC46-4843-83B1-9D65D960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679045-843C-4269-ADFC-4CE286F4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AC591B-5C3A-4582-8F11-556913B6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87A833-DC47-41D6-9561-FB378D3A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070E60-B4AA-4740-B4E9-4DFADE55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DAC552-C610-42CD-930D-AC831EAA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03863B-D493-4B77-8C88-8E39DBAC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EB67D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6A5FA1-ABA5-424C-BA84-5222CD46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962150"/>
            <a:ext cx="6477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562CC3-944C-41CC-A87D-E19920CD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1962150"/>
            <a:ext cx="8382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B67D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461033-AF13-4AD3-98FA-333A9B76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628900"/>
            <a:ext cx="19621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DEE3732-823C-4134-845D-BB30C55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76650"/>
            <a:ext cx="1962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A48D7C-4C5A-4D79-879D-A396ABC6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514850"/>
            <a:ext cx="19621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842F09-FA91-438A-987F-D3E7022D9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505450"/>
            <a:ext cx="13144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8FEC20-906D-4E00-BE77-1E7D6EE9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40 of 59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0555629-D2C5-4D2E-978B-959B0B30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5618887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0A100-FC91-4685-BCA1-89C15C2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89DE4F-28C4-4FA0-80A6-6EB1EA97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2BE0CF-DBE3-4C05-8523-B05AC0CF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863BC-973E-4FB2-9B93-4F0E1543A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D28EF-95B7-44F4-A308-33D05E13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1B390-6EA5-4F50-9605-6BD96201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2D6D58-3139-45BE-9EDF-88FACB21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BATCH 41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3430-9950-4B40-B2B6-546DCA882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749A50-B7ED-481A-AAE2-668274C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5FC389-30D5-4FCD-A330-D554F018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Design system, materials, motion engine, and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FD57F-C146-405F-806E-21AFC5AF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This batch gives Ambitions one premium visual language. Typography, surfaces, motion, controls, and theming become part of a single system instead of screen-by-screen styling.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79BD17-2182-4627-96CC-49EE282F6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5D526E-5158-43ED-9FE5-DEED5349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CC9D81-5714-4DB6-9ED9-DF957086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A8A4A6-79E3-47DF-8365-0996FFC3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Standardizes tokens for color, spacing, typography, depth, timing, and haptics.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CBF93-B5D5-4B9E-84B6-9116EB07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BF44E-2A75-4EF6-8412-87498590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6C85BE-8604-499B-81FF-5E29801C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40A40E-4583-4416-AF7D-ADF4FDA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Creates the shared component set every future surface can rely 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E7D86D-4053-490E-A093-5705A1D1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776906-53DB-4887-B4F7-DB5BEF1E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729CF0-976E-4F85-AD64-485C3BEB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31806-CC39-41A5-B78F-7ECE05D4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Elevates the product from good app screens to one authored flagship interface.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44DC94-DF75-45EB-B7B1-5DE2FE5F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EB759E-FEF7-4BA3-9BBC-0414CFD57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AF5A3B-82DC-428D-841C-5F35FD2A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1428750"/>
            <a:ext cx="38100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BEC2B7-3B53-4517-99DB-10AA9C60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16573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EB67D"/>
                </a:solidFill>
              </a:defRPr>
            </a:pPr>
            <a:r>
              <a:rPr sz="900" b="1">
                <a:solidFill>
                  <a:srgbClr val="2EB67D"/>
                </a:solidFill>
              </a:rPr>
              <a:t>System tokens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3C4988-AF7E-47AE-94CF-9CF8C191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B5CAC6-20AE-4EF2-BAFD-65FB92E4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4123F2-EE38-4E82-A890-BA7B1C2F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AE0D07-5E76-4062-B4C2-11E6932D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5830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2854EB-F5F8-41A7-89B9-D864D9CC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03835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F6112E-5A3B-4C64-8570-1DBCA6CC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2895600"/>
            <a:ext cx="1485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F9A604-BC46-4144-B952-96EE5793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81900" y="30384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Primary action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E80A736-98D9-4EDC-B16F-5065D5BB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895600"/>
            <a:ext cx="14859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2383">
            <a:solidFill>
              <a:srgbClr val="2EB67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AF84CCD-894E-445C-8F00-5F0C0896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EB67D"/>
                </a:solidFill>
              </a:defRPr>
            </a:pPr>
            <a:r>
              <a:rPr sz="975" b="1">
                <a:solidFill>
                  <a:srgbClr val="2EB67D"/>
                </a:solidFill>
              </a:rPr>
              <a:t>Secondary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E4833-C10C-4C27-926A-487348F6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3619500"/>
            <a:ext cx="31623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5F4966-47F6-49E2-97F4-73FBE923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3790950"/>
            <a:ext cx="26860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10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21518"/>
                </a:solidFill>
              </a:defRPr>
            </a:pPr>
            <a:r>
              <a:rPr sz="1350" b="0">
                <a:solidFill>
                  <a:srgbClr val="121518"/>
                </a:solidFill>
              </a:rPr>
              <a:t>Typography, motion, spacing, and materials all align into one premium system.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EF12E8-5A64-44C8-AF86-7EBF5156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41 of 59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3A2A745-CA37-4C68-A3D7-21C1CA92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784242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345FA-D03F-4EDB-B60B-2A857445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9911A-D10B-47E2-881C-9ABE8387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D63654-6694-401E-B021-5BA7C7233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5F204-FB30-4116-8CED-67D61353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960E46-C9A8-4E12-B71C-0E72101B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49BE70-2272-4523-AC61-969D9F8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F4035-53E4-4EF2-8D7F-FD657AFA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BATCH 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C274CC-FA4C-40D8-AC79-5A09E51D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B67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D2874-E11E-4BE1-9DF9-EECD278F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CCF5A3-934C-4C7E-A98D-A1CD08457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Global compose, search, capture, and command surface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03563B-B8BF-4872-9BA3-FD815B7E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This is the cross-app action layer. Capture, search, quick planning, recovery, and recall all converge into one elegant command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A792E3-9848-462A-AE83-D7980CE9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EF0EC-8AAF-456B-93CC-BDBB22C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A67795-F27F-4658-845B-D8466952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FBD443-117A-4E96-8049-AAC9FEF0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the contextual global compose model and quiet command sheet.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C277E7-D009-4EBD-B2E0-0945AB2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E7A3F3-925D-4181-89A9-8EB3BD7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AE0011-05AB-4471-AB66-820A13EE4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C25EF-BB7C-45A2-B781-D18EFFA0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Unifies fast capture, memory recall, open-object actions, and recovery shortcuts.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3E93E-E2F0-413E-B38E-24672224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E17DB3-5A6F-4CEF-87F1-CAEE45CB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10478">
            <a:solidFill>
              <a:srgbClr val="2EB67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1EB7EE-31A1-4CDF-B791-87433F87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B67D"/>
                </a:solidFill>
              </a:defRPr>
            </a:pPr>
            <a:r>
              <a:rPr sz="1125" b="1">
                <a:solidFill>
                  <a:srgbClr val="2EB67D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A3BFB-C7DC-4B7B-B49A-053A4DE8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the app feel more like an operating system than a collection of disconnected screens.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E39DB-807D-42ED-B9CD-C09E0C3B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0551CA-36B2-4095-92C1-24A11A94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B67D"/>
                </a:solidFill>
              </a:defRPr>
            </a:pPr>
            <a:r>
              <a:rPr sz="825" b="1">
                <a:solidFill>
                  <a:srgbClr val="2EB67D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4F3065-515C-4173-B75B-695790DB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1A697-AF67-4C3E-986F-B4270B50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2D067E-F333-4804-A5CA-6BCF8563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EA71E-9A8E-4B51-9ACC-C0D7C3CE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6A6A3-82B3-4228-90D1-53E02BC1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B67D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5CB768-ABAE-40DE-A17C-E213E8E7E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990850"/>
            <a:ext cx="1619250" cy="17145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17A375-F649-4D2F-BF00-9AD2DAD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18135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B67D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04C6B5-7F22-4951-8030-3698D7CE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44805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8FD55D-0169-4E8B-8291-C9AAF50D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71475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1C59FE-100E-4947-8887-7AD97BF0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98145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17C7EF6-5D27-49B9-AA63-630A14BB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424815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DB29F8-014F-4995-B614-51EA03A8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42 of 59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8BE34F-A092-4278-8BB7-603B5579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35078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2D24D-0D40-4258-BF3F-04E9D89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B8A18C-0792-404E-A161-FACCE0C4E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06472-2BA4-46B4-ABAB-EB376570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567FD9-7424-483E-A37B-7D9DAE65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AC28-ABC3-4AB6-A0A8-7CE82022C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20548F-5FA7-46C6-8079-842C4A50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2CDD51-91F5-4CFB-AE63-52350419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14363-6077-49CA-9686-7301840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C1229-78EA-4318-8250-53A9CF3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D213A-BE4C-4100-9025-10EA9843E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Today rebuild I — living hero, now state, and action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02EDC1-0DB1-437D-B550-CEDA2F6C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Today becomes the flagship command center. The home experience starts prioritizing the real now, the next move, and the strongest action with far more clarity and authority.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CAD0C8-DE08-46A0-B57B-F28EF110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ACD34C-8C61-4733-8C16-1CAF02E1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C9F79-A115-4DE4-9324-34370A51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17CD4-1364-4EA3-95D0-0BF2EB3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the living hero surface for now, next, and daily posture.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B3E4E-9D53-4E9F-9FCD-4B8D41D0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C7CCFE-B98C-4C4D-85C6-47012160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6E381D-D54D-4660-9349-1A677058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9FCC92-21D5-45C1-B62A-0A6BFDCF6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Refocuses the home screen around one obvious best move instead of stacked utility panels.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AA6B3B-E05B-4A8C-B5DC-579F74D1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4971A-9B37-4A79-9379-5BB85727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00118-0BDC-43FF-B7F7-258D8F615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A9C75-60FD-448A-90FB-20CFFD9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the product’s most frequently used surface feel calmer, stronger, and more habit-forming.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0AD0D4-B155-4AD9-85DE-E050C5311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66DD53-1517-434F-87A0-7E42AAB3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637153-0A91-45DA-ADA0-56C8C570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4FE3F55-60A5-473D-8DAD-E711B38C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3AD42-ED60-4782-AFF1-E6706E4D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475152-CDBA-47C7-91E3-EB26E07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56429A-1E1E-4FDD-8751-803D2730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9ADA54-B05D-4F06-9D3E-7E6BDE7D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943100"/>
            <a:ext cx="16573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2BB32F-B112-4EEC-BB22-7B5DD01D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266950"/>
            <a:ext cx="1028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7A23C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5BD5D3-42DA-4B9F-9873-D7A14669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8575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F49260-E9AB-4ED0-BAC9-A1481B67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576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732C56-26C4-42CF-B487-AB844C7B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476750"/>
            <a:ext cx="19621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B125766-A5C2-49E8-8F60-4D4BAE9D2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43 of 59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81309C-653A-4FAA-AF90-A3412811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8334834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95153-19A7-43B4-8F75-09F9432B2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55C04-B645-47AB-921B-8038DFC96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5D641-6B80-48A2-9A7F-45359826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DC212-523E-4001-A231-401AB0B4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59C2CE-9374-487A-A786-A44FAA1C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84D259-80F8-4134-A97A-DEDAD12B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64E7BB-BFD3-492A-B294-499FC544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75A08A-76A4-42E3-9B40-E272FBFD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5B3F8-EE31-45D8-8359-2856340D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C008C-35E8-457C-A69D-E15176ED6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Today rebuild II — time aperture, recovery bloom, and day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06D2AA-32BA-4166-BB6A-F834174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The Today experience becomes adaptive and reality-aware. Ambitions starts helping users recover from drift, understand time, and reshape the day without shame or complexity.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CB2479-5A70-41AD-A2B0-0B6CCF86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5C9EA1-8E55-4AF4-8541-411051C9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AF1AC-614B-4CAD-BEF6-A67DA1256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8BB6F-A5A1-4AA8-AF22-A5217E34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Adds time aperture for understanding room, compression, and availability at a glance.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5C2A8-3E04-4E3B-90D1-D5C1EDEB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257329-513B-4F23-8002-9264453F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D8C7A7-B7F9-4A52-9C67-0DEEFE0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5E018D-31FC-4ADC-8B7A-BEB718EAB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recovery bloom so broken plans turn into safe next moves instead of dead ends.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FB1806-4532-4FE4-9046-348A8611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2C859E-C9A0-43D9-9589-7A3A98E9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87204-CFB1-4556-A704-25EFE150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ED1872-4D63-47A3-9A85-4EA828EA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Upgrades day-shaping logic so the home surface feels more intelligent under real-life pressure.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7CAC2A-5A49-4476-9AD2-E4EBBFDD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EC22A-9F27-4612-8F2F-9E00EB21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7FA6A9-F332-408A-A0D6-2B509F5D7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0FE1EC-BA68-477B-9BA3-951353D8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0C2F5-1DED-49D6-A525-0E97D466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8A3369-49F0-48CB-A0EC-FE177474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CA2954-7BF9-47BB-8F1C-009CB39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8440E-62D7-4832-8DA5-C1CEE1DF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1943100"/>
            <a:ext cx="16573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062842-2075-4B02-BE4E-8035C288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266950"/>
            <a:ext cx="10287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7A23C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397DBD-AD50-4AEF-9CA4-945DB11B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8575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67E839-0EDB-4F7D-9AC0-4F38053B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576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21AB4E-C40E-420D-869B-55090A5C0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476750"/>
            <a:ext cx="19621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430F2E-8B7C-455E-9600-647A531B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5429250"/>
            <a:ext cx="1619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813DA5-A07F-4A2E-97EB-AF5DBBE8A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619750"/>
            <a:ext cx="11239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B3DCD72-9644-46E1-8131-BEB941B8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5924550"/>
            <a:ext cx="8382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23C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44A585-1D16-4F88-8A52-6DB0AB9F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44 of 59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3468A9-0878-4EB4-882F-1BFDB9AE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733012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C3069-0944-4412-B277-48B69A51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974A5-7F1A-4693-A068-35E087DB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74ABD-BFF0-470A-953D-CE9E4274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55202-4946-4AE8-86E1-D33AB34D5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978EE-E918-472F-8FAE-FF4488A7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C06EA-001D-40E2-B544-EF3FFCC8A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C6A88-F9E0-4C2D-B09C-DF4B715F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A8845-5DFC-4893-B987-657A1EE0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1EA7A6-7817-41FA-9BB9-A60D0B630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BEFA-E172-4BE5-AE52-E4A71F12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Goals rebuild I — direction board and horizon ladder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33C5F9-0F6B-4BCF-B9B8-937C72E00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Goals stops feeling like inventory and starts feeling like direction. This batch turns ambitions into a living board of priorities, momentum, and long-range structure.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8125C-9F19-4756-ACB6-BA228A90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86E4EA-85CB-44AB-A9B4-582AFC08F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0867EB-8C9B-4AB2-8AD9-104FD30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09E8D-E988-4EE1-B5E6-2A5EB95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Rebuilds goal cards around health, pace, pressure, and strategic relevance.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23BD1D-C9A4-4E45-AAB4-251A1EFE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88E0C-3164-49CF-9156-F91F274C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A82480-3CA9-42D5-A70D-58452496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FFCF22-A0A8-4F41-9E21-EF48B7AA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horizon-based structure so users can see what matters now, this week, and over time.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1B26CB-74A7-43BF-B126-597AC8B5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2F961-7DF6-48F7-8E5C-9BCFF4462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8A24AF-08D1-4AA7-8207-EEB6CB60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522F5-456E-46E2-8A89-71C6C919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ambition feel visible and actionable instead of buried in lists.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48C9BE-6DE3-4311-99C0-586DE6F8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F7E183-03D6-438D-A8FB-1C19EA1A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894531-8BF7-4A7F-994B-DF629767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6EBF8E-425B-4F42-8EA4-53B2AE8B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8BD408-C388-4B05-A061-559EEADF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DA2F10-88D5-4BA3-90D9-71BA093B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427D7C-64BD-4820-9CB8-0C292039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136091-BAAA-4A8C-BEBB-41F6688B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62890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B95FE-438B-4487-81A2-A90CEDAE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8003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960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C8B1B0-B42A-4E93-B0FE-E2032D6A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2990850"/>
            <a:ext cx="7048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E575B8-7EB9-4F02-B6BC-F2DBEB3D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40995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8E0A1C-0134-4380-9E7A-612690F9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58140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960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8D3764-C829-4D36-B5F2-AB5AB8E4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3771900"/>
            <a:ext cx="952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C5188E-841E-4010-B62D-26285836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19100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264B5D-28C0-49CA-BB16-AD3461FD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36245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960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1BEB34F-993F-4B50-8350-4BDFC89A5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4552950"/>
            <a:ext cx="1200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9E92ED1-525A-4E48-B0D8-5A4AE89D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972050"/>
            <a:ext cx="1962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C016F4-3A08-40D9-91DF-8D01F3DE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143500"/>
            <a:ext cx="11239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960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F00C5D2-F06C-4E67-B58E-EFA4B85E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0550" y="5334000"/>
            <a:ext cx="14478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CE9C6E-0B20-4CF7-8D2F-65748CB9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45 of 59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6538F7-5152-46DD-A1CD-2EA67E6F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9074844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819F4-71DA-477F-860C-281B314F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F50538-78B7-4DFC-90A7-C548F37A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8C1C7-9B4F-4C09-B391-35BFBE03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F3AE0-88D1-4DFB-9EE0-B7A04D19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35A86-7D87-4872-ACA5-60A76D871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CF687E-CE7C-4840-94B0-EDBCF657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A031E-2F5C-45C2-852E-B15B0DE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BC213-5899-4F1F-BB4E-C8295C8D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A0C48F-8DDF-4A25-8B6F-B01EE52D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33F90-0789-475B-8BD0-B7139F08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Goal intake and Strategy Composer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52BE4A-FD75-4E7A-8422-F35532341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Goal creation becomes strategic rather than administrative. New ambitions move through a guided, high-trust composition flow that helps users shape believable plans from day one.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D28CC-1E6E-4E56-9E1A-A915A14B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236624-D182-4494-8CCE-11B348093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95737-A9F9-4C19-AF9C-A666EA38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09B18D-B981-455C-8E4A-F06C7709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Turns goal intake into a premium authored flow instead of a plain form.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B0B7C-CAC0-4E26-AD4E-97C62F8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97E554-4AE6-492C-84A7-CEC78D7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A4EDC4-DA10-4001-AA14-CD15A4C6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FD7CB6-4EE7-4C1A-9545-0B007483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Helps users define scope, pace, and structure before a goal enters execution.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879AA-66F5-4377-82DD-2020E81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239683-BB06-4A1F-8BDD-AE00C02F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193F5-6408-4145-B613-7AC0E9DC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A2712E-C1B7-4B0B-8939-DB58651A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Improves the quality of every later screen by starting with stronger planning inputs.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DE0B23-CE1A-4384-808C-61152946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B907B0-A734-4F36-B0E7-2C660CA8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897849-5BB9-4CFC-89FD-117841E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A6C910-88B4-46E2-958A-BF0B737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54F907-5F88-4E43-A3F1-83D9983F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F664E-E4E5-421A-9802-B0445ED5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273D42-57C4-4D8A-B5D3-6B03F985C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7A23C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5497F1-03BF-4D40-BE7B-99F87BFF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514600"/>
            <a:ext cx="19621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8B53D2-475B-4671-956A-68B43E22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733800"/>
            <a:ext cx="19621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35E50D-E1D3-4AAB-80F4-99D200CFE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78155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BF489-CBB0-4AA8-875E-5118EF355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791200"/>
            <a:ext cx="1543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B2B2EA5-9CA3-4DC9-9AD0-A7AE537B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46 of 59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4A76AF-71CA-44E2-A57A-8905ACDB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4658538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C880B-AE7F-4BA7-BFA3-3013BC40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88FF4B-AE67-4089-8950-4408D7FD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13D6FC-D13B-4F6E-A0D3-EBC504D7D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52EE17-3DF9-44B7-A2B3-7A8AE838F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F99C15-31CA-4ADB-9200-F8128F66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5F808-BBE3-4626-8AEE-2D0EE50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A0ADC-1903-478A-9D1F-1935C043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987D7-DACC-4FEB-9AAB-35BC350B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9BBECB-810C-4B90-B546-C04A56ED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BA31B2-B894-4531-9977-BE6E50F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Goal Detail rebuild I — strategic chamber and path filmstrip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1A5F36-C612-4128-B7C7-2B694F36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Each goal becomes a living strategy chamber. The product starts showing movement, phase, and next action in a way that feels dynamic, visual, and easy to trust.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DD24E6-552B-4D82-8D51-685E73ED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18F82-CCF6-455B-AE98-0C38F1DE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2D344-7B1D-4BC6-844C-66E274B58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A5B558-3C01-4806-BCC5-FF334CA3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a richer goal detail hierarchy built around path, phase, and next movement.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E5A462-310F-4910-8268-71E491BE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8F9B6-3702-4B2F-A78E-52406B86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DFD61-3A18-45B6-B404-A319B76F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58F2B4-C08C-4A8D-98F0-0D4E3A39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Adds the path filmstrip so progress feels directional instead of administrative.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163C55-CBBE-443D-8E66-009D39D1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287700-DCFD-43EA-8230-1EBEE0FE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451EB3-9D27-47A8-B5A6-19269C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AE0A1-83A4-4672-85E1-58865FB7C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Creates a more premium bridge between goals, today, and weekly planning.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510663-1AFB-4B55-9B93-67B30A534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3C6415-1953-4503-B35E-852E3FA9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240704-6AED-4786-8446-57DA45B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AB4554B-3A3B-4664-BFD3-94BEFC4E3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650647-FAA1-4839-9DC8-2D21D6C1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05E6A0-6F69-4A21-B1D0-5B9DC6F8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EA5546-C6F4-43E1-A18D-2311BA23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B97625-EA8D-4636-8446-C58E1CAC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8194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9DDEBF0-6115-4BDD-9EC5-F0043169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E42F06-670E-4E96-83AA-18094D22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D7379E-ABA7-49AB-A2CC-560B8B6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3EDD68-2889-4485-A1E2-31814A8A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D6E4FD0-7725-4330-BD02-78EAC5C38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B33459-17FF-4F83-B2CF-047E1F83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0045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AF96C9-9C1E-4875-9199-4067CCD5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5720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C26B8F-114F-4B86-A047-4BB2B42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47 of 59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4DF35-0501-429F-87C4-F0C1F71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8050207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91992-2282-4BA8-BA1F-2FA395C3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F9380D-9CCA-4EFB-9AD7-7DE2963E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CFBCB-5083-4776-9860-61381E8B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2CEE4-1659-4558-BEF9-294BF55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AF41B-0735-4A01-BCFF-049F5081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0EF85-4250-400F-AA75-E508AAEB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51D41-FA98-44ED-BFA6-D0E22A4F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157BD-5FB9-4625-B851-C04250C1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3F333-834F-4E48-ADFB-4A50F81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02ED82-82DC-4FF1-9384-BE3C54D5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Goal Detail rebuild II — trust whisper, correction, audit, and memory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3C6C0-6E4D-4BC9-A723-71B89024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Trust becomes beautifully legible. Users gain a calm way to understand why the system made a call, what changed, and how to correct it without technical clutter.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922A-2E2B-440E-B4A0-9B8241CF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608907-6B5F-475F-B320-B0FD5A64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00D36-346C-4BE8-8800-3FFF4BA2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9553E0-6175-425C-9F7E-A7C3B65E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trust whisper, audit, contradiction review, and memory depth into Goal Detail.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B7C78C-4F44-412C-AA28-384678F5E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858B6-D6A0-4EBF-815E-90479DF0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AD01AF-8705-4184-8B79-96D52F7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1628D1-24BC-4CA6-A746-1D67370CB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Turns corrections into humane product interactions rather than model management.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43F669-A874-49EF-946D-6176E2D2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A604E0-6A54-4623-9767-435EFCC74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4AC41E-6A84-4BFF-9983-6D0F464B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80848C-79FC-4531-8814-28F63D7E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Strengthens confidence in the intelligence layer without sacrificing calmness or restraint.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675272-371B-42C3-BCF0-DCA11E9E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6D30BD-B1BF-408C-AB8F-88C4BB2F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7F0E4-D373-40E1-9E98-3492A581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086D0-8FA6-49F2-B0FE-FF97D06B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3187C-46F1-4AB1-A716-713EDDD9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151D74-1CB7-4CBA-BE22-19E4D790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F691A3-24EB-4924-B284-9ED65A6E0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621688-4D98-4033-8418-0B2B806B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819400"/>
            <a:ext cx="1619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515181-9A87-46E8-8E93-5182A34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8EAC48-7357-49A1-8E83-F094FBDD5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7CE1B9-3077-4D19-9E5A-E7C64B8D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97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574D6E-8CE9-4A50-840F-416F615C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2975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D06D0F-9002-4619-AC5F-E94D35C3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9800" y="30861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0C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B40E08-50C7-4F7F-B50A-65044BFA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00450"/>
            <a:ext cx="19621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BABD13-E61F-47A3-A5B8-C7794514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5720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782DF4-68FA-48C9-887F-1ED0D594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5143500"/>
            <a:ext cx="15430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020160-84EA-493C-B081-D24202F5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5353050"/>
            <a:ext cx="11239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23C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A20787-BAFA-452D-8505-71DC0C6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5657850"/>
            <a:ext cx="819150" cy="133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2765E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0932D2-FFFC-466E-ADEB-151C0E9B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48 of 59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4CED94-E0FF-4036-B119-C8613CC2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091369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F0FD2-3FB8-44C3-A190-539F3CB1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C6FD2-F460-4AF6-AF4A-DFDF825E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08ADD3-5F4D-4145-B6C2-A11C3D4C2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B436CD-2D6C-4C01-B753-5FBC207E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77CDD-E0CE-4C27-A63C-74044E14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A6B52-64EA-4ED1-ADF2-5383A5DF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242A90-47F9-45EE-9EC5-E68FB12FC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7CAF88-26D7-4411-B6C9-4757576E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BB2569-2B33-4E8A-A0FC-5E638E11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307BA-807A-450C-9D1F-3686D428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Plan rebuild I — elastic week and pressure scrubber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135DE7-4B3C-4866-B4F3-B16A8A62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Weekly planning becomes a premium shaping workspace. Instead of a cramped calendar, users see room, pressure, and tradeoffs in a format that feels elegant and decisive.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331B9-C715-489D-9C42-060A45C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F9BFB8-75EF-4AFF-83DC-6C26CF05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5E568C-CC90-4807-8B15-33A0A55B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47DA3D-BB75-4C90-984B-9B0CDAF2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the elastic week view so time density expands and compresses intentionally.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BE92D1-F73B-49AC-ABF3-841BA1D6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FA4F13-1B27-4D6C-AE79-56575678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BE6305-8F4A-4742-99DD-D85F951B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839E56-E2C8-41AC-94C5-BDAABDD8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pressure visible through a calmer planning grammar instead of dashboard clutter.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28197-17A8-47CE-95FA-F8E787A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774CD0-9405-40B9-AF56-1B64C273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9C14A1-B966-42AF-A828-C970E9BA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719B7-3336-47B3-9938-47D4AD22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Turns Plan into a strategic workspace that supports action rather than fighting it.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05D37E-8A3D-4B0F-A8FE-22980F67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09CBE-8054-4613-85F3-63A2CEAE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FAB12F-3771-4FE1-BBA7-B11BDC06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748914-BA61-4BF7-A079-AC7E874D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EE2D25-CA63-413C-82BA-45205F89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637B2F-CD82-4232-8496-A23AB6DD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A61A40-179F-4F5B-8157-D9761C18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5269FB-94B8-4D9A-B768-F11A4170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7051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940832-7638-469E-A213-DB14891F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85750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3D6BAB-4A51-4292-8C53-4144E9DFE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85750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1139AE8-011E-47A4-817D-0815D26B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40995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0A9F4-EB7E-40EC-92C4-9CCF89B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56235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745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EF9FDC-DC30-4531-BDCD-83AAAA26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56235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ED8EAF-6B55-4BF4-A4F2-86EC5D5B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1148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64A467-28CD-44D2-9A97-B8064441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426720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A90B25-DB47-4770-B3DD-9F9C60E54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26720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DF3A78-7D2F-4EA0-A42E-BEDE149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81965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FD6892-8E6F-49E2-9B89-1520F866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97205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745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A2EE869-EACA-42AB-A516-F7D5F9E1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497205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DA4BA2-F639-4E7B-827A-47A17A88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49 of 59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67651F-F94A-4FE4-96F1-0D4990858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23681197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F7F03B-D4D8-457F-B085-69B4C77E2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CF707-FB34-4B0B-8A3C-D9373580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107F1-B3E6-4868-B6FA-8855601A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E65772-0136-4199-BD5B-8E1C0D97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532039-883C-49AA-B50A-88FABEC4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639261-1CD6-4C2D-AF6C-063CCFE0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F18B18-9B67-48ED-A204-328B9B863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BATCH 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286E80-6511-4279-89E2-5967F2276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A23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69730A-3E41-435E-BEBC-5577012C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CORE SURFACES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56A044-79B3-4CE0-9C1E-1F8F71F5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Plan rebuild II — habits, captures, weekly review, and shaping logic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93CD7A-ABBB-4A4F-BCC0-CEBD7E0C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Plan becomes a true operating system for the week. Habits, captures, review loops, and advanced shaping behaviors lock into the same authored planning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9AB4C6-344D-49A6-BCC9-1CA40654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9638F-6196-4908-BAFB-7904045D9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027D8B-E27B-43E3-85F5-3A464979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E0CC6-96B8-4610-95FA-AD306E80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Absorbs supporting workflows into the planning surface so the week feels unified.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FF91DB-C01D-4A49-97C8-466F0E48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7A1772-770C-4667-AC86-4930BDB2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F3734A-69B4-4433-922C-D6BA19BF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4525C9-8F34-4E41-8CF0-6FAA9CE0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Adds advanced later-core behaviors like window magnetism and contained split-pane shaping states.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EF0AEE-84A3-495A-BE4C-315C58B5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D52C89-F69A-4915-BCF3-C8A9F82D9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3333"/>
            </a:srgbClr>
          </a:solidFill>
          <a:ln xmlns:a="http://schemas.openxmlformats.org/drawingml/2006/main" w="10478">
            <a:solidFill>
              <a:srgbClr val="D7A23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9E8AE-9D5C-4005-99D4-BE8AEA51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A23C"/>
                </a:solidFill>
              </a:defRPr>
            </a:pPr>
            <a:r>
              <a:rPr sz="1125" b="1">
                <a:solidFill>
                  <a:srgbClr val="D7A23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513949-92AA-4916-B08A-951273787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the weekly loop stronger, more believable, and more defensible as a flagship experience.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992F5F-BB7A-49CB-86C2-88A57647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4E4652-7AF1-4A56-A533-EB27BA4B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7A23C"/>
                </a:solidFill>
              </a:defRPr>
            </a:pPr>
            <a:r>
              <a:rPr sz="825" b="1">
                <a:solidFill>
                  <a:srgbClr val="D7A23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305DB1-6F38-45FA-A543-95B077AD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82A1EC-C51B-4360-A15C-93AA27F1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C6EBBE-58B9-4F46-A714-04ABD4DC4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CACCDE-28E0-4639-A873-1FD92E27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2BC68D-0848-45ED-BFE6-2591DBD0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D697D-CD94-4359-8C5B-892E1B08B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7051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F40FBC-4229-470F-97A8-AF51508A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285750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96D5AF-88E5-497F-9B1E-51912A1D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85750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CC69C9-000A-4440-86A5-32835221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40995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2D7FD-23D0-4B71-83B9-2F215679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43900" y="356235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745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E962013-CF46-4749-B50E-E9B7202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56235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D6B07E-224F-4CB0-B541-BD4034455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11480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A020D2A-C5CA-48F2-8F26-D5524960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58200" y="426720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276AF4-F036-462C-85AE-19C70940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15450" y="426720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F7993A-16C0-43EF-98D0-8D30EDBF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819650"/>
            <a:ext cx="1962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294E7B-FD5A-46FF-84C3-4F2D39B6E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00" y="4972050"/>
            <a:ext cx="7429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2745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F5C8DD2-5DB9-46D9-8FFA-DDF10E98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0700" y="4972050"/>
            <a:ext cx="5334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E2765E">
              <a:alpha val="2117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A3ABA7-2F09-47BA-B834-CA129623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3467100"/>
            <a:ext cx="666750" cy="14478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D98E0E5-C7F2-4775-B4E6-47F01A063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65760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91FECDA-9CAA-4A01-80CF-88E9C1DDD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388620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2E930-B365-4906-B5BF-6931015B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0" y="4114800"/>
            <a:ext cx="4000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08F0AE-B498-4E94-9093-40237F52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50 of 59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64DF93A-F88D-4CF8-B4BE-0632E286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8552915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76350D-28A2-41EF-9F3C-004A3ECA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B830A3-B736-40FB-9571-D07186D5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15660-5DE2-4C9B-9CB7-F2CDA28C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22BD7-8031-4314-98E2-1809D809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447012-ACF8-4274-90C5-65DB2364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CABD2-828C-4CAB-A882-2206E5DD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827FE-2B0E-45A1-B87E-9608FCA1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BATCH 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A3C921-EB5B-4EBB-B1C3-40E62468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4C125-12E7-42A7-B6D7-A4B38B2D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TRUST AND 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17C7B-C076-420E-8C0C-EAAC18A9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Insights rebuild and reflection 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0F0A4-19BB-43E0-B603-CC2B2A40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Insights evolves from analytics into narrative proof. Reflection becomes more human, more trustworthy, and more useful for long-term momentum.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447AC-E6A7-49C6-B13C-7304F0D7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70A4D-9D55-4D15-AA49-8C694372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67F0A-65C4-4D70-BD57-2D74F5A2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41427-84FE-44B1-9058-C468BEF2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Rebuilds the reflection experience around patterns, proof, and behavior clusters.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1E290D-C06F-4DFD-8A80-6A182AA4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DDE93F-C4F7-4775-808D-EFCF080B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FE2C9-0A23-4CCD-9850-32D2A4A4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EF619-EDBC-4A74-A7C4-C6CFF28B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review constellation as a more premium alternative to dashboard-heavy analytics.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F72B4E-490A-437E-B365-607EBE5F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C113AF-11DE-4655-B76F-91491232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18DE54-B496-4400-860C-E1CE8D20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BE281D-B92A-449B-9D8B-75D0D304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Gives investors and users a clearer picture of how the product turns history into actionable insight.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2AFE3-1078-4933-A8BA-A2F150BA0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B75C51-87E4-4DFE-9ED4-A3D431F9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CD193B-6E8D-4FA9-AEF4-4F4A7026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4D28E5-8DAE-4C81-936A-B6D883E9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B1FC75-19A1-43D1-984C-FCF552D6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BB700-7F8A-43BC-A31E-0F81DEB9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FFC05C-0A24-42B8-8D38-E0D88152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18C6C9-8CD0-4B52-A505-FC2F0539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32194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2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6EEF1B-261C-4A51-A0D6-F7757ECA1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9250" y="379095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3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779F952-0D28-42B2-B9AC-6C23535F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5148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2823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950EFE-16F9-48B3-84CE-19864CF0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48850" y="4629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944C89-268D-4EE1-A2E7-5C641431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105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85530C-559D-481F-AB23-15CA7AA4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524500"/>
            <a:ext cx="1962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D31DC01-FEA2-4182-88EA-9D51683CC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51 of 59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545ABE7-A5AF-47D8-ACCC-0B5137FB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88911696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53270-6096-43D1-B1BB-E10C4DD87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21788-5E51-41CE-B3E5-A6BB27A7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F018A3-A456-47ED-A088-3AA3F9BFC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15389-A025-4DF6-951B-D2937595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EF91E-7008-4FE7-AC0D-497B7C24E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CD274B-7A1F-49C5-8792-3D19DC7F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1B08D-5A0D-4430-BD04-037C5A65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BATCH 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E46DE-48AF-434F-B90C-75B9A814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CA5D68-046A-4524-81F8-95D20056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TRUST AND 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D797E-7BBC-4DDF-8187-79674AFA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Profile rebuild, Appearance Studio, and Trust Center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26F0D-4285-4ACD-ADA4-533FC829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Utility surfaces become premium. Appearance, trust, sync, defaults, and system posture move into an experience that feels deliberate instead of settings-heavy.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2A4279-37B8-4A36-BBC3-768D5B2B4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6F371D-7760-41B9-876D-F89DEA29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6D3C7-996B-4EB2-9374-27E533DF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5978F7-09C9-43BC-86FD-1CA98A46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Appearance Studio for curated theming and visual personalization.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5EAE6A-25B4-4313-BEF9-E9F8CEF25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10C7C-5239-4192-B3E0-1544B1AB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A421C-1D8D-4514-ACA1-02CA7E77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234CD-7619-4BC7-865B-7EF7E655E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Creates a calmer trust center for sync, integrations, and system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550489-A8D8-420F-BD41-974EEE45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5BD406-A168-4698-AF5B-1EDD2F22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0C1D28-0168-46A0-A1B7-8BBEDE50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4C1274-8E80-48C5-9FB0-4FBDFB01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Raises the overall product finish by making utility feel as designed as execution.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22DF99-4CCA-46B6-A3D3-D2B1905B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B588C6-3647-48D1-8EBE-E192717E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10ABC9-A321-410D-BB4B-2B16CAE1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CAB0D2-749D-4C9F-90B4-AA32B64B3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1D12F8-EB65-42EC-8F86-E61928B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4B92426-AA3F-4279-8E6D-E03E7BB4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7B6BE9-15D3-4E72-AE50-9B5DCB45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249A98-76B2-4CA1-9B57-42B1B4F2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628900"/>
            <a:ext cx="19621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1B4644-1837-4883-897F-CEDE7F6E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9600" y="3771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07F2E4-837A-4ACB-ACBF-AA8C615E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24900" y="3771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CE3101C-CFAD-4EC7-AF5C-B1807AC1E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0200" y="3771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A40D33-476A-4063-8253-75E6EDE0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15500" y="37719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02A564-7044-417F-A0FA-45599FF5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381500"/>
            <a:ext cx="1962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8A7BC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86B681-8416-4400-AD06-89DD94D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5257800"/>
            <a:ext cx="1962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F9A6B8A-FAFA-46F5-879F-2CB2B5255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52 of 59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6D3BF3-4F26-4618-8C7B-7F14E6EB3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5764572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ED961-08B1-4C15-AD84-EFAD27DC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901824-197C-48E8-B6D2-27EB6E57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F20711-47B3-428A-9F3D-01FD103E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18F3EA-5202-4E00-ACE2-4B02F65C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F1FB2-9D88-4B56-9FBE-00814CB2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9ABF90-2025-4437-8C9B-24E774B2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FE0B2-D32D-4982-BA1A-C1F66FE4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BATCH 53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98F48-AA08-47CC-8F9E-DEE8680F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2765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C1DBA-65EF-401D-ABF8-1F25B8A9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TRUST AND REFLECTION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518530-F1F3-4535-8FD0-62BDB84C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Onboarding, first-run, permissions, education, and state systems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12BC0-6240-4E01-B410-8D0D168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The first-run experience becomes worthy of the product. New users get a calmer entry, clearer permissions, and more intentional state behavior from the beginning.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8044E5-EA18-462C-B90D-F7D0AACD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7E7A3-7AD3-4C5D-BE9B-2CBCD618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BBF32A-A373-47A1-A8C8-E5512B49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D56955-DD04-4BCB-A836-0D707AF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Rebuilds onboarding and education around product confidence rather than setup friction.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5B64B-4384-4D6E-8060-A031E009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048452-3888-49E5-9702-076E68C0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C6657E-CE02-4879-9FB3-694AB557B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A2B6FB-DD2A-48B8-82F3-C89FEA45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Improves loading, error, empty, and re-entry states across the transformed product.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91ED36-75B5-413E-8991-16619884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2EA67A-E13D-462E-B1D0-1FB43665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13333"/>
            </a:srgbClr>
          </a:solidFill>
          <a:ln xmlns:a="http://schemas.openxmlformats.org/drawingml/2006/main" w="10478">
            <a:solidFill>
              <a:srgbClr val="E2765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5F4F56-138C-41B2-B28C-3D0F476B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2765E"/>
                </a:solidFill>
              </a:defRPr>
            </a:pPr>
            <a:r>
              <a:rPr sz="1125" b="1">
                <a:solidFill>
                  <a:srgbClr val="E2765E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116AA-BA57-42FA-A2B6-DDCC9735A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early user impressions more premium, more understandable, and more conversion-friendly.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2123CA-27C7-4C20-88F3-43C6D34C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A51CA3-DB33-427C-AD53-018248B6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E2765E"/>
                </a:solidFill>
              </a:defRPr>
            </a:pPr>
            <a:r>
              <a:rPr sz="825" b="1">
                <a:solidFill>
                  <a:srgbClr val="E2765E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EDBB3A-0A2A-4A56-A880-BEAEC345F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B6B1F8-7477-4B27-A070-4E4CDCF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5864AA-E98B-46EC-8E4D-B537D091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DE4A8A-49E1-49C6-B7BD-7EFF8889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765E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1D7BE-FE1E-4334-A5FF-B4918DD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1962150"/>
            <a:ext cx="17716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2765E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C8E586-8F56-4852-9A0C-E8BCD39A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3028950"/>
            <a:ext cx="15430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BCB2EA-60BD-4171-8209-8F4CBEFE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4305300"/>
            <a:ext cx="15430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7A23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2AB291-0880-4C92-9CCD-107B8475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39150" y="5353050"/>
            <a:ext cx="1200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276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0D6166-99B3-4DCB-BCBA-21B7232E8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53 of 59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161ED0-EC53-41F0-8DB6-BCA43F28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5732538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069405-2907-4E7E-900C-947B71E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E4752-D39D-4DE8-8DF2-2756C9DF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E01B9-81C0-4DDB-95A6-6D4149EE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FCBAE8-4835-4C4E-9AAC-8FE2B382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C6628-BC7D-4D6F-9EDB-3D0507F46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89191-E4ED-4EDA-B5AA-68B98B0F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AD7BF-8FE8-41B5-AA21-5662F28F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BATCH 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B4673F-CB3C-48E3-B629-F43419DE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A6967-8779-49FB-A685-0C03DAFD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AMBIENT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65EA4D-6E52-4A9F-8C3E-27378D4DD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External surfaces I — widgets, Live Activities, notifications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13FBE-7BE8-4BE1-ADDF-0619AB81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Ambitions steps beyond the app. Widgets, Live Activities, and notifications become real product surfaces that carry the same clarity, tone, and quality as the core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8FAB8-06BA-41ED-B949-59E73EE4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6FB9C1-0EA8-4D1A-9A76-6BE58A0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FC07F6-54A4-4941-B5EC-FA3740A8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67C072-C633-4F77-8DFD-8BC8654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Extends the transformed visual system into glanceable iPhone surfaces.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A8145F-7230-4123-9C1A-B96982DE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2276B-74D0-49C8-9A35-C0EB57B7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09A41-A38C-45AB-BB83-4E224DED4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A981E-D2AE-48D6-844D-CD9C72F9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Creates more daily visibility without relying on attention-grabbing gimmicks.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7942ED-5907-455A-B6A6-B070D761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B21D46-CE5B-4D22-B55A-A6A8D0072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E5D335-B8D2-474C-A2AA-8BD0ADAB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2D5FDA-9190-4971-9CC9-AD19FE96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Strengthens retention by making Ambitions useful before the app even opens.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10B3A-6C95-41AA-B7A6-58B9D5D3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13FBCF-764E-4426-8057-F8A0CC0D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06D18D-04D7-4D78-AF9E-F08AF392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37029A-5DB3-4349-BBDD-256805FF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218EA3-65A7-47FE-895A-565B248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74D0E9-60CB-4831-BC95-8AEFF361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E7FBEB-D048-4FD3-8854-87B284FC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695450"/>
            <a:ext cx="12573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D23A8-DB36-4EC9-94F6-F57BDEBA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38950" y="32385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ED7FBD-7580-451A-A653-F5A2AC94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0" y="2247900"/>
            <a:ext cx="857250" cy="14478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4FE3AE-A025-4292-9FA6-770EFC3E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2419350"/>
            <a:ext cx="47625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88A7BC">
              <a:alpha val="1568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2B23CB-CA0D-41BD-A395-2C4CAC77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0" y="2724150"/>
            <a:ext cx="476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4265F4A-983C-41C2-9D74-FBA9C07E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5ECB78-F881-4FBD-8D10-A27DA75B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705100"/>
            <a:ext cx="19621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1C6556-38B7-4C90-9B55-4D255638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3676650"/>
            <a:ext cx="15049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C26A94-49DA-4432-9233-8E80E18E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54 of 59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586980-1128-4381-8E8B-2FC78854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4638250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152B5D-DB9A-4C22-B95F-B343287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BBEEC-0167-4A40-96F8-8585C426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5ED027-8D8A-4D36-AFAC-AF31F04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E928DA-4FBC-4EAF-85FC-AA3BD335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F6FC24-4EA6-4728-89D8-8542C72D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D1BD3-CF8D-46DE-8EC0-30506A69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08279-10FB-4F8B-8549-7FEC77AD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BATCH 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000F8-F120-4FA4-8E5A-4AE3FD517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D2DB61-CD67-4ABB-B862-2C6C4233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AMBIENT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D945B-D8FD-455D-ABE7-29174846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External surfaces II — share extension, App Intents, shortcuts,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27C2C-6468-4017-9948-4D2785A1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External entry points become part of the operating system. Sharing, shortcuts, intents, and routing feel native, fast, and deeply integrated instead of peripheral.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E2BFC7-2FF5-40F3-A3CF-3D3743A2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10ADC-B438-4630-AE65-CA45553D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7A3876-8F55-451A-B220-C9786F80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9DF95-B232-41D5-BF67-56D898E0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Lets users push ideas into Ambitions from wherever they are.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6A07A-80DA-4F41-83B3-A4AB9430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DB9784-8F72-47F1-8905-13C0560AF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6CFB8E-E34D-4BBE-9F73-73D6E191E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54C03A-1E00-4694-BB03-AE48435D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Turns shortcuts and intents into serious product touchpoints, not technical extras.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7BE6C1-E1C5-4EAF-9765-43969588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30DD3-10DA-4CF8-BB83-42CC7CBD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96151D-BDCD-4293-A10E-2939FC1D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048F56-D46D-4AFC-B1C9-16B8AC37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Improves the odds that the product becomes part of a user’s daily mental workflow.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678F5-6E5F-48B7-BF4A-5ADF460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59DC9A-1AD9-44A2-A2B0-BB2ACA13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3E3E92-4C84-4FBB-B2CE-0B7B7C65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DDD0E8-0DCD-4DB9-B3E4-C928C97C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D8838-59C1-43BD-A328-61416CA6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30B506-C035-453A-8473-86519948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FC77CA-0D93-4561-91F5-1ABC7DCB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2114550"/>
            <a:ext cx="1123950" cy="144780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260A86-5E1B-439D-ACA1-2CCA9CB4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3829050"/>
            <a:ext cx="11239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8A7BC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5CEF33-7644-433C-8EAB-CCFF354B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84C80B-C571-470C-9A23-0D054302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2857500"/>
            <a:ext cx="16954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5C70BB7-8467-4F72-9986-0A359480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086100"/>
            <a:ext cx="13144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88A7BC">
              <a:alpha val="1490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97410C-1376-41F7-A926-49338DC7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371850"/>
            <a:ext cx="9715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D7A23C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40C7F51-703E-428F-90D9-B5BC2CBC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4191000"/>
            <a:ext cx="15430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5EE4D6-5288-4F2E-976E-0976815B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55 of 59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9F1012-550A-48F9-99E7-646A2925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0630608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F37FF-4B38-4CF3-A278-0F6B6058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FA81BD-D7E9-4E5B-8690-09DF9D5C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73736A-068A-470C-A9DF-B77BF70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5763E7-40D4-4EDE-826A-18CDFF02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067FF-9DB2-4BA7-9BF1-C2342271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ACF165-CABB-485C-B63B-E404458A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4182E-C5A3-41FC-9495-6A1CA1F8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BATCH 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E0421-E8BA-4B29-A628-8E5E6F7B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88A7B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3B43E-3A81-401F-B3CE-2683230B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AMBIENT EXTENSION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7F7CBE-9E3D-4B2F-8C8B-D97C94F08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Cross-surface command, recall, and ambient coherence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BB7FA0-61A6-4009-B81C-75DCE643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The product starts acting like a real external brain. Recall, command, and handoff are unified so context follows the user across every major surface.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4EAD19-962F-4DCF-A2BD-E4BBA3CB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2276C-5F31-4E71-A85C-F54F2B68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6433C-FDDF-4048-A784-05980882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665BA-CDA3-4255-A82E-2235AA12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Extends memory lens and command behavior across in-app and ambient experiences.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9CB0E7-8F1B-474E-87F2-11D4A69F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96064B-43E8-45D1-864E-2ED848D1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8AB114-C18F-4269-A990-4C20CB4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0775A2-19D0-4D61-ABFE-1210BFC0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Makes handoff between surfaces calmer, clearer, and less repetitive.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9E465-00E7-4667-AD95-D0E9CB5D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072904-9797-4F0F-BFC8-B6DA52CB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13333"/>
            </a:srgbClr>
          </a:solidFill>
          <a:ln xmlns:a="http://schemas.openxmlformats.org/drawingml/2006/main" w="10478">
            <a:solidFill>
              <a:srgbClr val="88A7B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149764-DB22-46A0-9D7B-1705367A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88A7BC"/>
                </a:solidFill>
              </a:defRPr>
            </a:pPr>
            <a:r>
              <a:rPr sz="1125" b="1">
                <a:solidFill>
                  <a:srgbClr val="88A7BC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3BC8C-F5D2-45E0-87FE-2CFA51D1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Deepens the product moat by turning isolated actions into one coherent cognitive system.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852799-973F-486A-9407-46D06AAB6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4B97C-36D2-463E-B467-7FE8A209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88A7BC"/>
                </a:solidFill>
              </a:defRPr>
            </a:pPr>
            <a:r>
              <a:rPr sz="825" b="1">
                <a:solidFill>
                  <a:srgbClr val="88A7BC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41A23E-1E40-42EB-AFD2-ADF8EAED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67650" y="1200150"/>
            <a:ext cx="2343150" cy="45148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1E9BBB-9DD0-40E9-927D-888915D8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2900" y="1295400"/>
            <a:ext cx="2152650" cy="43243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85836F-5055-4ABF-80CF-41F5DE01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13335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B07F6F-EDDF-423C-A167-15533231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657350"/>
            <a:ext cx="1962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B9BD22-0049-46AA-A9CA-7705E634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438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14288">
            <a:solidFill>
              <a:srgbClr val="88A7B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012416-9F69-4B90-85BB-381E03C75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36385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12549"/>
            </a:srgbClr>
          </a:solidFill>
          <a:ln xmlns:a="http://schemas.openxmlformats.org/drawingml/2006/main" w="14288">
            <a:solidFill>
              <a:srgbClr val="D7A2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E72740-8043-4445-AAF0-0E76B52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1790700"/>
            <a:ext cx="19621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88A7BC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5162D0-4368-4A88-9431-C321B86C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280035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648889-701F-4AFA-817F-99918369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61950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88A7BC">
              <a:alpha val="784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473EBC-3C23-4F70-8E74-53A994B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4438650"/>
            <a:ext cx="19621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5FCAEA-EE88-43B4-AD9D-976C262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78130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A7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62A8E7-F73E-4453-A569-4C02F9D4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3981450"/>
            <a:ext cx="628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2519EF-7275-4218-B96A-42B9880D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56 of 59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4B9184-A7BC-4113-905D-F3639444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0371716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28B2B-0DCB-4100-BF1A-42E4D981C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3F86C1-5908-4400-8194-526993ED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11D519-F052-49CD-8217-99100F231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B376D-92FC-41BB-851D-87076F72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A0D16-9799-403B-869E-BCE0715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0A63ED-FE9A-4F61-8B93-53216A75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3A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812C27-886D-475D-92A3-99EAAAC15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BATCH 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7B2D4-F670-4F7E-AA54-C53C3363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3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A0A69D-FB90-44F4-998B-BDEE9DA6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MULTI-DEVICE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52E35-9BC7-4836-9053-B3CC73CF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iPad and Mac surface architecture and first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3F7800-2C27-428C-9E85-7768AE9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The transformation expands to larger screens. Ambitions becomes a more powerful planning and reflection environment on iPad and Mac without losing its calmness.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184248-8748-4EF1-AEFA-E79DAD78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1B2619-FAFB-43DE-A612-C0C006CD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2BBCAC-84B3-49C6-8C61-ED4F43EB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CC6AD-FC47-4B58-ABB9-6C513D32F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Adapts the shell and major surfaces for deeper work on larger displays.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9944F7-4032-47E1-A0BF-0FF181BE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A25AD-354F-4D8C-BF3B-B32B848F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387FB7-6856-4B5C-92E2-F439CB48B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DC99D-4E7D-4071-A2F6-177861BA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multi-pane and keyboard-aware patterns where they add clarity.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8A46FD-B26A-45DC-AE2F-16E04609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F443D6-6345-44C8-BBFE-6106BFA2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02212-55B4-4130-A746-8628ED4E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874B15-8A0B-4F3A-9C22-ED460CC0D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Opens the door to higher-value use cases like richer planning, review, and strategy sessions.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7F2045-F476-4D67-BFEF-074ED954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F5A7B0-0271-4A66-9636-456DB3E0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783742-C00A-4E58-A63C-DB3F2D497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1543050"/>
            <a:ext cx="29908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810913-ECCA-4EC9-B53C-9E11EF4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05650" y="1638300"/>
            <a:ext cx="28003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50E13A-8FCF-45DE-BF07-6E699C8A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467100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63D1A5-C068-4556-B726-922C289F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91525" y="32956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21A57-4827-4B2F-BA5D-E3B52DB2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828800"/>
            <a:ext cx="2571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E5CEC3-2AFF-4944-A832-3BF3DFFA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438400"/>
            <a:ext cx="149161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>
              <a:alpha val="862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EA1ADF2-B463-4612-A563-11E89C59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14435" y="2438400"/>
            <a:ext cx="97726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AE965D-E1AC-46CA-8B83-9F3F1B85F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0" y="3657600"/>
            <a:ext cx="2190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6E6AF-4DB7-4872-8958-AC3422F9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96300" y="3771900"/>
            <a:ext cx="19621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2056F5-C54F-4E74-95DA-ADFDC5AC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3943350"/>
            <a:ext cx="17335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72D9C1-24E3-465D-A8E8-1F30E71F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476750"/>
            <a:ext cx="1733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AE8F48-4C2B-4F79-98BA-4C01C74B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10600" y="4705350"/>
            <a:ext cx="78009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BAEB15C-97C3-4863-B096-4D4090BDF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77375" y="4705350"/>
            <a:ext cx="8667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23C">
              <a:alpha val="18824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73D949-8ACA-440C-887B-3665ECF1F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57 of 59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1775E0E-64AE-46DA-8935-EBF8A7E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69078229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BF0C7-4DC4-4A0E-8B02-168F4F76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0909B-8995-4EE9-A513-DDE992CC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2C642-9B1F-4D14-8311-4F3D962D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248DE3-63F1-4B3E-94B2-A2C5AB644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3A1FD9-6132-4B09-965E-991AFDAA1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5E4D5C-DFF0-417F-B7C9-20ECC3A2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3A4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9B3E9-80DD-4993-94FA-5045AFCE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BATCH 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E884A-CEDC-4963-8523-DF20F8FF9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E3A4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ADE8D-43FE-4552-80D1-AD39C864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MULTI-DEVICE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E01692-35BF-4590-95AB-CA15DE1F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Watch and Apple TV ambient surface architecture and first implementation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81023D-05BB-4423-8813-BD07E52D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Ambitions becomes ambient and household-visible. Watch and TV extend focus, ritual, and reflection into surfaces designed for the way people actually live.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D0499-E033-47DA-ABF7-D602A459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2FAE5-1724-4751-865C-51BE804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A6A6EA-EDB1-4835-9008-DF79FA25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7AE677-443A-4CCF-8C13-384856E1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Brings the product into low-friction moments of attention throughout the 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99214-C253-47B6-B1A7-56E2C9A1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9FC506-3A65-4CB1-8C05-22D56708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007631-B3FA-4CC3-BC61-A37B2641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4BDE52-E75F-47DB-8D48-32CC8B10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Introduces future-facing ritual, momentum, and focus touchpoints beyond the phone.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EC666-4D09-4AD7-A796-CF224E6F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9B59B9-751A-4028-9577-DDFD702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10478">
            <a:solidFill>
              <a:srgbClr val="2E3A4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DFA5E-43A0-4D77-8D85-B9CAA043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3A45"/>
                </a:solidFill>
              </a:defRPr>
            </a:pPr>
            <a:r>
              <a:rPr sz="1125" b="1">
                <a:solidFill>
                  <a:srgbClr val="2E3A45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F4A7C-0AA0-4A42-8D6D-82E9610A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Strengthens the platform story by showing Ambitions can scale as an ecosystem product.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392348-38F5-4013-AC75-C5157808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E0AA045-7B8B-4210-8397-3C8F4555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3A45"/>
                </a:solidFill>
              </a:defRPr>
            </a:pPr>
            <a:r>
              <a:rPr sz="825" b="1">
                <a:solidFill>
                  <a:srgbClr val="2E3A45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15F32-5E11-4F59-B04A-1CEA0078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1771650"/>
            <a:ext cx="41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821B6-313E-4C3C-946A-5F3F34D1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6650" y="3333750"/>
            <a:ext cx="41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6572604-C15B-4BD1-8D84-048FA457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1850" y="2228850"/>
            <a:ext cx="12001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4F55735-26A6-4405-8578-5E8F6FD0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7100" y="2324100"/>
            <a:ext cx="10096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3599F1-5210-4F3B-8EFF-2E789270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1885950"/>
            <a:ext cx="2190750" cy="14097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B15E03-DB81-49CE-8C42-A8B12DE1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981200"/>
            <a:ext cx="2000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EC3E2B-61FA-4772-958D-2D6057FBF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10725" y="3200400"/>
            <a:ext cx="152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41E7946-7E54-4881-8DDD-E4DCA2CF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5425" y="3390900"/>
            <a:ext cx="1143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DE47D-0476-42AA-B746-6505A45D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438400"/>
            <a:ext cx="81915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3A45">
              <a:alpha val="1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CECAC50-CBF7-4E9C-907C-466211BD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72350" y="2724150"/>
            <a:ext cx="6096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7B4ACC3-9103-4B01-971B-6E303254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82050" y="2152650"/>
            <a:ext cx="1809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3A45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1AB30FB-69D6-4A25-BA44-DD7EFA18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05900" y="2514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A23C">
              <a:alpha val="4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4C707E-3309-4534-AB35-86A0EEC4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58350" y="23622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3A45">
              <a:alpha val="2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D3147F-C8FF-461A-808C-BB2C1A5B4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44150" y="24574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765E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26794F-C5FF-4217-BCED-90FEBA404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58 of 59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6D76F9-8A39-44AF-A978-0DF7677B5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14211589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6F1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029A97E-4619-4720-9975-768918257F3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641C28-2E6E-483F-A7A5-8832F00B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-114300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CDDBAE-4CF4-4FE7-8F0E-1DEB8C58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-1143000" y="48577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E97E7-9C7F-4C68-A853-7507EE82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6172200"/>
          </a:xfrm>
          <a:prstGeom xmlns:a="http://schemas.openxmlformats.org/drawingml/2006/main" prst="roundRect">
            <a:avLst>
              <a:gd name="adj" fmla="val 1235"/>
            </a:avLst>
          </a:prstGeom>
          <a:solidFill xmlns:a="http://schemas.openxmlformats.org/drawingml/2006/main">
            <a:srgbClr val="FFFCF6"/>
          </a:solidFill>
          <a:ln xmlns:a="http://schemas.openxmlformats.org/drawingml/2006/main" w="11430">
            <a:solidFill>
              <a:srgbClr val="D8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3562D-CDB9-4D77-AF24-D9DF6777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342900"/>
            <a:ext cx="11125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5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CF0FB4-84B6-4B5B-B91D-6CE3B3F7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143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E757C"/>
                </a:solidFill>
              </a:defRPr>
            </a:pPr>
            <a:r>
              <a:rPr sz="750" b="1">
                <a:solidFill>
                  <a:srgbClr val="6E757C"/>
                </a:solidFill>
              </a:rPr>
              <a:t>AMBitions front-end transformation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52EA76-8CF8-4335-B728-F8D4E34E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781050"/>
            <a:ext cx="9715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7A5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A9D7B-1016-4B8D-8BA8-EBB9CEB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838200"/>
            <a:ext cx="742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7A57"/>
                </a:solidFill>
              </a:defRPr>
            </a:pPr>
            <a:r>
              <a:rPr sz="825" b="1">
                <a:solidFill>
                  <a:srgbClr val="1E7A57"/>
                </a:solidFill>
              </a:rPr>
              <a:t>BATCH 59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6D5C1-5C46-4100-9BA0-F547F95D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1650" y="781050"/>
            <a:ext cx="13716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E7A5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92FEC-CCC3-4C8D-A53F-FCD75703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838200"/>
            <a:ext cx="1143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E7A57"/>
                </a:solidFill>
              </a:defRPr>
            </a:pPr>
            <a:r>
              <a:rPr sz="825" b="1">
                <a:solidFill>
                  <a:srgbClr val="1E7A57"/>
                </a:solidFill>
              </a:rPr>
              <a:t>FLAGSHIP FINISH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DA088E-B6D6-43C6-9B15-2A66F3E2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1162050"/>
            <a:ext cx="5715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1518"/>
                </a:solidFill>
              </a:defRPr>
            </a:pPr>
            <a:r>
              <a:rPr sz="2100" b="1">
                <a:solidFill>
                  <a:srgbClr val="121518"/>
                </a:solidFill>
              </a:rPr>
              <a:t>Finish-quality pass, accessibility, performance, and release polish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FE6464-3BBB-439F-999F-521C080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076450"/>
            <a:ext cx="5334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F353B"/>
                </a:solidFill>
              </a:defRPr>
            </a:pPr>
            <a:r>
              <a:rPr sz="1350" b="0">
                <a:solidFill>
                  <a:srgbClr val="2F353B"/>
                </a:solidFill>
              </a:rPr>
              <a:t>The roadmap ends with polish, accessibility, performance, and release-grade refinement. This is where the transformed product becomes singular, cohesive, and ready to be judged as a flagship experience.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AB7C70-C726-4C7D-BC4A-79D4BC1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480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F02FE7-8299-4494-A797-F4C473D6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32194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3333"/>
            </a:srgbClr>
          </a:solidFill>
          <a:ln xmlns:a="http://schemas.openxmlformats.org/drawingml/2006/main" w="10478">
            <a:solidFill>
              <a:srgbClr val="1E7A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24C876-33CB-4C04-9B02-138B31BE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3242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7A57"/>
                </a:solidFill>
              </a:defRPr>
            </a:pPr>
            <a:r>
              <a:rPr sz="1125" b="1">
                <a:solidFill>
                  <a:srgbClr val="1E7A57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7C8BA8-E610-4C09-A215-8D6D4B9A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385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Tunes motion, haptics, responsiveness, and consistency across the full product.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C6AD47-04B0-4A9D-A3D8-55FFC0B86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0386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3E886-7329-49A2-BC5D-51EDCE6C1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42100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3333"/>
            </a:srgbClr>
          </a:solidFill>
          <a:ln xmlns:a="http://schemas.openxmlformats.org/drawingml/2006/main" w="10478">
            <a:solidFill>
              <a:srgbClr val="1E7A5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76652C-5A54-48AF-9A59-9C93CCE9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43148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7A57"/>
                </a:solidFill>
              </a:defRPr>
            </a:pPr>
            <a:r>
              <a:rPr sz="1125" b="1">
                <a:solidFill>
                  <a:srgbClr val="1E7A57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F7582A-2EFF-4252-BA90-F1160228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42291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Raises accessibility and quality assurance to first-class release criteria.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74ED8-AADC-4F9E-8791-FFB76F57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5029200"/>
            <a:ext cx="53340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7214F-4C09-4AE3-970D-FC6F015D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" y="5200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3333"/>
            </a:srgbClr>
          </a:solidFill>
          <a:ln xmlns:a="http://schemas.openxmlformats.org/drawingml/2006/main" w="10478">
            <a:solidFill>
              <a:srgbClr val="1E7A5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D63B34-37CA-4EBC-A118-C715DEEE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5305425"/>
            <a:ext cx="15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304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7A57"/>
                </a:solidFill>
              </a:defRPr>
            </a:pPr>
            <a:r>
              <a:rPr sz="1125" b="1">
                <a:solidFill>
                  <a:srgbClr val="1E7A57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E21FB-3473-4EA2-90CB-2A530683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5219700"/>
            <a:ext cx="4324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21518"/>
                </a:solidFill>
              </a:defRPr>
            </a:pPr>
            <a:r>
              <a:rPr sz="1200" b="0">
                <a:solidFill>
                  <a:srgbClr val="121518"/>
                </a:solidFill>
              </a:rPr>
              <a:t>Turns a completed roadmap into a credible, launch-quality front-end transformation.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915254-8135-48D6-9717-8CF5DF5F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72250" y="876300"/>
            <a:ext cx="4762500" cy="53340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BF8F1"/>
          </a:solidFill>
          <a:ln xmlns:a="http://schemas.openxmlformats.org/drawingml/2006/main" w="9525">
            <a:solidFill>
              <a:srgbClr val="D8D0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2AF6B4-2CF2-4A94-B356-10BA4EA1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10668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E7A57"/>
                </a:solidFill>
              </a:defRPr>
            </a:pPr>
            <a:r>
              <a:rPr sz="825" b="1">
                <a:solidFill>
                  <a:srgbClr val="1E7A57"/>
                </a:solidFill>
              </a:rPr>
              <a:t>Intended batch outcome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8A2E5-8AC7-4208-B0CA-8BA2AB2F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1657350"/>
            <a:ext cx="1104900" cy="22288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0EACDB-D580-467A-A662-49C9E4FA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5200" y="1752600"/>
            <a:ext cx="914400" cy="203835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27FA85-2367-49E6-A6C4-1E6E1C9B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58050" y="1790700"/>
            <a:ext cx="10287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E33CCF-2E55-4852-965F-3501B997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114550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7A57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AD36C5-46A0-481E-9CB2-C88E5EAF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0450" y="2247900"/>
            <a:ext cx="7239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3092D-9383-4101-AD0E-248AFA27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91550" y="1619250"/>
            <a:ext cx="2190750" cy="13716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A2E4F7-E75E-4D3A-9A23-48C90A12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1714500"/>
            <a:ext cx="2000250" cy="11811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C48648-9C79-4A21-AC2A-A2F4E00F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20175" y="3067050"/>
            <a:ext cx="1333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AC5B44-0422-4E9B-9CE0-F8276C223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72625" y="2895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5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3271FE-52D9-448E-A67D-4CCC835E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3086100"/>
            <a:ext cx="41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0CFADC-48F8-4EB3-BE25-43E81D79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4381500"/>
            <a:ext cx="4191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35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508FD0-0089-4ACB-9930-4743200F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543300"/>
            <a:ext cx="9334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21518"/>
          </a:solidFill>
          <a:ln xmlns:a="http://schemas.openxmlformats.org/drawingml/2006/main" w="9525">
            <a:solidFill>
              <a:srgbClr val="12151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013C3-5248-4227-B988-8FEB4277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5400" y="3638550"/>
            <a:ext cx="7429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EF2F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35BE21-62B0-420E-B253-DA4458C4B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3448050"/>
            <a:ext cx="1066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8D0C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324310F-5013-49D0-AD4A-F6E0A40B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4118"/>
            </a:srgbClr>
          </a:solidFill>
          <a:ln xmlns:a="http://schemas.openxmlformats.org/drawingml/2006/main" w="12383">
            <a:solidFill>
              <a:srgbClr val="1E7A5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169760-6667-4B58-849F-69BFDC2F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705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✓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949620E-EE23-454C-B5B0-6610E270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3676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4118"/>
            </a:srgbClr>
          </a:solidFill>
          <a:ln xmlns:a="http://schemas.openxmlformats.org/drawingml/2006/main" w="12383">
            <a:solidFill>
              <a:srgbClr val="1E7A5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A41BCE-3C2E-4135-B76F-6734DE2D7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37052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✓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49D2C1-C2D0-4665-BE28-46BC49AB7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3460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4118"/>
            </a:srgbClr>
          </a:solidFill>
          <a:ln xmlns:a="http://schemas.openxmlformats.org/drawingml/2006/main" w="12383">
            <a:solidFill>
              <a:srgbClr val="1E7A5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727A01D-DA6E-4E53-9864-F4F6EA72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4048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E04364-0990-426D-B65E-B34E1754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77500" y="4019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7A57">
              <a:alpha val="14118"/>
            </a:srgbClr>
          </a:solidFill>
          <a:ln xmlns:a="http://schemas.openxmlformats.org/drawingml/2006/main" w="12383">
            <a:solidFill>
              <a:srgbClr val="1E7A5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3E1D7E4-A591-4B94-9861-211804E1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15600" y="4048125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192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E7A57"/>
                </a:solidFill>
              </a:defRPr>
            </a:pPr>
            <a:r>
              <a:rPr sz="900" b="1">
                <a:solidFill>
                  <a:srgbClr val="1E7A57"/>
                </a:solidFill>
              </a:rPr>
              <a:t>✓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4E4C88-A188-4ABF-9FB8-708B0AC2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6343650"/>
            <a:ext cx="6667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Queued future batch 59 of 59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943087F-606A-40C1-9A9A-32D98997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82100" y="6343650"/>
            <a:ext cx="2266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E757C"/>
                </a:solidFill>
              </a:defRPr>
            </a:pPr>
            <a:r>
              <a:rPr sz="750" b="0">
                <a:solidFill>
                  <a:srgbClr val="6E757C"/>
                </a:solidFill>
              </a:rPr>
              <a:t>Investor presentation preview</a:t>
            </a:r>
          </a:p>
        </p:txBody>
      </p:sp>
    </p:spTree>
    <p:extLst>
      <p:ext uri="{BB962C8B-B14F-4D97-AF65-F5344CB8AC3E}">
        <p14:creationId xmlns:p14="http://schemas.microsoft.com/office/powerpoint/2010/main" val="386824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2026-04-21T16:48:17.5220000Z</dcterms:created>
  <dcterms:modified xsi:type="dcterms:W3CDTF">2026-04-21T16:48:17.5220000Z</dcterms:modified>
</coreProperties>
</file>